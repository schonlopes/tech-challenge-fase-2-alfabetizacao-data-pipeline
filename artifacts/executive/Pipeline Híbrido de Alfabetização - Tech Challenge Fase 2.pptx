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2023</c:v>
          </c:tx>
          <c:spPr>
            <a:solidFill>
              <a:srgbClr val="64748B"/>
            </a:solidFill>
          </c:spPr>
          <c:invertIfNegative val="1"/>
          <c:dLbls>
            <c:spPr>
              <a:noFill/>
              <a:ln>
                <a:noFill/>
              </a:ln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Cruzeiro do Sul</c:v>
              </c:pt>
              <c:pt idx="1">
                <c:v>Rio Branco</c:v>
              </c:pt>
              <c:pt idx="2">
                <c:v>Curitiba</c:v>
              </c:pt>
              <c:pt idx="3">
                <c:v>Londrina</c:v>
              </c:pt>
              <c:pt idx="4">
                <c:v>Campinas</c:v>
              </c:pt>
              <c:pt idx="5">
                <c:v>São Paulo</c:v>
              </c:pt>
            </c:strLit>
          </c:cat>
          <c:val>
            <c:numLit>
              <c:formatCode>General</c:formatCode>
              <c:ptCount val="6"/>
              <c:pt idx="0">
                <c:v>49</c:v>
              </c:pt>
              <c:pt idx="1">
                <c:v>52</c:v>
              </c:pt>
              <c:pt idx="2">
                <c:v>64</c:v>
              </c:pt>
              <c:pt idx="3">
                <c:v>61</c:v>
              </c:pt>
              <c:pt idx="4">
                <c:v>65</c:v>
              </c:pt>
              <c:pt idx="5">
                <c:v>62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027-44F5-8DCD-E20C4D98D474}"/>
            </c:ext>
          </c:extLst>
        </c:ser>
        <c:ser>
          <c:idx val="1"/>
          <c:order val="1"/>
          <c:tx>
            <c:v>2024</c:v>
          </c:tx>
          <c:spPr>
            <a:solidFill>
              <a:srgbClr val="22D3EE"/>
            </a:solidFill>
          </c:spPr>
          <c:invertIfNegative val="1"/>
          <c:dLbls>
            <c:spPr>
              <a:noFill/>
              <a:ln>
                <a:noFill/>
              </a:ln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Cruzeiro do Sul</c:v>
              </c:pt>
              <c:pt idx="1">
                <c:v>Rio Branco</c:v>
              </c:pt>
              <c:pt idx="2">
                <c:v>Curitiba</c:v>
              </c:pt>
              <c:pt idx="3">
                <c:v>Londrina</c:v>
              </c:pt>
              <c:pt idx="4">
                <c:v>Campinas</c:v>
              </c:pt>
              <c:pt idx="5">
                <c:v>São Paulo</c:v>
              </c:pt>
            </c:strLit>
          </c:cat>
          <c:val>
            <c:numLit>
              <c:formatCode>General</c:formatCode>
              <c:ptCount val="6"/>
              <c:pt idx="0">
                <c:v>54</c:v>
              </c:pt>
              <c:pt idx="1">
                <c:v>57</c:v>
              </c:pt>
              <c:pt idx="2">
                <c:v>69</c:v>
              </c:pt>
              <c:pt idx="3">
                <c:v>66</c:v>
              </c:pt>
              <c:pt idx="4">
                <c:v>70</c:v>
              </c:pt>
              <c:pt idx="5">
                <c:v>67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027-44F5-8DCD-E20C4D98D47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w="9525">
              <a:solidFill>
                <a:srgbClr val="33415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pt-BR"/>
                  <a:t>Municípios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pt-BR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>
              <a:solidFill>
                <a:schemeClr val="bg1"/>
              </a:solidFill>
            </a:defRPr>
          </a:pPr>
          <a:endParaRPr lang="pt-BR"/>
        </a:p>
      </c:txPr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Enunciado Tech Challenge Fase 2 (arquivo local).</a:t>
            </a:r>
          </a:p>
          <a:p>
            <a:r>
              <a:t>- README.md e docs/architecture.md do repositório.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[IAST] - Tech Challenge - Fase 2.pdf, páginas 2–5.</a:t>
            </a:r>
          </a:p>
          <a:p>
            <a:r>
              <a:t>- docs/data_dictionary.md.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[IAST] - Tech Challenge - Fase 2.pdf, páginas 3–5.</a:t>
            </a:r>
          </a:p>
          <a:p>
            <a:r>
              <a:t>- docs/architecture.md.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Base dos Dados: basedosdados.br_inep_avaliacao_alfabetizacao.</a:t>
            </a:r>
          </a:p>
          <a:p>
            <a:r>
              <a:t>- src/alfabetizacao_pipeline/contracts.py.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README.md.</a:t>
            </a:r>
          </a:p>
          <a:p>
            <a:r>
              <a:t>- docs/architecture.md.</a:t>
            </a:r>
          </a:p>
          <a:p>
            <a:r>
              <a:t>- cloud/gcp/main.tf.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docs/cloud_deployment_status.md.</a:t>
            </a:r>
          </a:p>
          <a:p>
            <a:r>
              <a:t>- docs/monitoring_runbook.md.</a:t>
            </a:r>
          </a:p>
          <a:p>
            <a:r>
              <a:t>- artifacts/evidence/dlq_validation.json.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docs/finops.md.</a:t>
            </a:r>
          </a:p>
          <a:p>
            <a:r>
              <a:t>- cloud/gcp/main.tf.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docs/cloud_deployment_status.md.</a:t>
            </a:r>
          </a:p>
          <a:p>
            <a:r>
              <a:t>- artifacts/evidence/latest_quality.json.</a:t>
            </a:r>
          </a:p>
          <a:p>
            <a:r>
              <a:t>- artifacts/evidence/dlq_validation.json.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README.md, seção Aplicação analítica e IA.</a:t>
            </a:r>
          </a:p>
          <a:p>
            <a:r>
              <a:t>- docs/phase2_compliance.md.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docs/cloud_deployment_status.md.</a:t>
            </a:r>
          </a:p>
          <a:p>
            <a:r>
              <a:t>- artifacts/evidence/latest_quality.json.</a:t>
            </a:r>
          </a:p>
          <a:p>
            <a:r>
              <a:t>- artifacts/evidence/dlq_validation.json.</a:t>
            </a:r>
          </a:p>
          <a:p>
            <a:r>
              <a:t>- GitHub PRs #1, #2 e #3.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BA63C8-A1F6-4F0B-B52D-E4CDE850AD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5F063C-D66C-42E3-9D71-DE7CBDE531C1}"/>
              </a:ext>
            </a:extLst>
          </p:cNvPr>
          <p:cNvSpPr>
            <a:spLocks noGrp="1"/>
          </p:cNvSpPr>
          <p:nvPr/>
        </p:nvSpPr>
        <p:spPr>
          <a:xfrm>
            <a:off x="658368" y="64008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22D3EE"/>
                </a:solidFill>
              </a:rPr>
              <a:t>AI SCIENTIST • FASE 2</a:t>
            </a:r>
            <a:endParaRPr sz="1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32BEE0-1501-4E94-9681-7FEB4F7D76B5}"/>
              </a:ext>
            </a:extLst>
          </p:cNvPr>
          <p:cNvSpPr>
            <a:spLocks noGrp="1"/>
          </p:cNvSpPr>
          <p:nvPr/>
        </p:nvSpPr>
        <p:spPr>
          <a:xfrm>
            <a:off x="621792" y="1207008"/>
            <a:ext cx="11481718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4400" b="1">
                <a:solidFill>
                  <a:srgbClr val="F8FAFC"/>
                </a:solidFill>
              </a:rPr>
              <a:t>Pipeline Híbrido da Alfabetização</a:t>
            </a:r>
            <a:endParaRPr sz="4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93A1F3-C235-459A-9B43-D308B738758A}"/>
              </a:ext>
            </a:extLst>
          </p:cNvPr>
          <p:cNvSpPr>
            <a:spLocks noGrp="1"/>
          </p:cNvSpPr>
          <p:nvPr/>
        </p:nvSpPr>
        <p:spPr>
          <a:xfrm>
            <a:off x="658368" y="2357187"/>
            <a:ext cx="79552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463" lnSpcReduction="10000"/>
          </a:bodyPr>
          <a:lstStyle/>
          <a:p>
            <a:pPr marL="0" indent="0">
              <a:buNone/>
            </a:pPr>
            <a:r>
              <a:rPr sz="2000">
                <a:solidFill>
                  <a:srgbClr val="CBD5E1"/>
                </a:solidFill>
              </a:rPr>
              <a:t>Dados confiáveis para acompanhar metas, resultados e desigualdades educacionais no Brasil.</a:t>
            </a:r>
            <a:endParaRPr sz="2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44AC9A4-E050-4380-BACC-07044D7AEE21}"/>
              </a:ext>
            </a:extLst>
          </p:cNvPr>
          <p:cNvSpPr>
            <a:spLocks noGrp="1"/>
          </p:cNvSpPr>
          <p:nvPr/>
        </p:nvSpPr>
        <p:spPr>
          <a:xfrm>
            <a:off x="658368" y="534924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22D3EE"/>
                </a:solidFill>
              </a:rPr>
              <a:t>Tech Challenge Fase 2 • Base dos Dados + GCP</a:t>
            </a:r>
            <a:endParaRPr sz="13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1DE7496-E578-4B77-B1AC-2F1C39085D58}"/>
              </a:ext>
            </a:extLst>
          </p:cNvPr>
          <p:cNvSpPr>
            <a:spLocks noGrp="1"/>
          </p:cNvSpPr>
          <p:nvPr/>
        </p:nvSpPr>
        <p:spPr>
          <a:xfrm>
            <a:off x="658368" y="571500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CBD5E1"/>
                </a:solidFill>
              </a:rPr>
              <a:t>Willian Schön Lopes</a:t>
            </a:r>
            <a:endParaRPr sz="12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11510F5-EA24-4B18-B78C-CB0E158F2A1B}"/>
              </a:ext>
            </a:extLst>
          </p:cNvPr>
          <p:cNvSpPr>
            <a:spLocks noGrp="1"/>
          </p:cNvSpPr>
          <p:nvPr/>
        </p:nvSpPr>
        <p:spPr>
          <a:xfrm>
            <a:off x="658368" y="5102352"/>
            <a:ext cx="36576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6202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7A4FD6-D596-47C6-B84C-02458DA5FE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575CDD-99E2-4990-9216-FFE29B1F2EE8}"/>
              </a:ext>
            </a:extLst>
          </p:cNvPr>
          <p:cNvSpPr>
            <a:spLocks noGrp="1"/>
          </p:cNvSpPr>
          <p:nvPr/>
        </p:nvSpPr>
        <p:spPr>
          <a:xfrm>
            <a:off x="502920" y="320040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CONTEXTO</a:t>
            </a:r>
            <a:endParaRPr sz="10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F41DA0-6BA5-412D-BD37-962548C6D914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 desafio é transformar dados educacionais em ação pública</a:t>
            </a:r>
            <a:endParaRPr sz="29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41AFEA8-6657-4F93-B103-ADAC92FB3583}"/>
              </a:ext>
            </a:extLst>
          </p:cNvPr>
          <p:cNvSpPr>
            <a:spLocks noGrp="1"/>
          </p:cNvSpPr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3970">
            <a:solidFill>
              <a:srgbClr val="334155">
                <a:alpha val="9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A653A1-994B-4982-A318-CD1E9BF5F06E}"/>
              </a:ext>
            </a:extLst>
          </p:cNvPr>
          <p:cNvSpPr>
            <a:spLocks noGrp="1"/>
          </p:cNvSpPr>
          <p:nvPr/>
        </p:nvSpPr>
        <p:spPr>
          <a:xfrm>
            <a:off x="502920" y="6446520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80">
                <a:solidFill>
                  <a:srgbClr val="64748B"/>
                </a:solidFill>
              </a:rPr>
              <a:t>Tech Challenge Fase 2 • Pipeline de Alfabetização</a:t>
            </a:r>
            <a:endParaRPr sz="78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640D858-B605-42A2-AD13-EA5199CFB4FD}"/>
              </a:ext>
            </a:extLst>
          </p:cNvPr>
          <p:cNvSpPr>
            <a:spLocks noGrp="1"/>
          </p:cNvSpPr>
          <p:nvPr/>
        </p:nvSpPr>
        <p:spPr>
          <a:xfrm>
            <a:off x="658368" y="1508760"/>
            <a:ext cx="5257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8409" lnSpcReduction="20000"/>
          </a:bodyPr>
          <a:lstStyle/>
          <a:p>
            <a:pPr marL="0" indent="0" algn="just">
              <a:buNone/>
            </a:pPr>
            <a:r>
              <a:rPr sz="2200" b="1">
                <a:solidFill>
                  <a:srgbClr val="F8FAFC"/>
                </a:solidFill>
              </a:rPr>
              <a:t>O Indicador Criança Alfabetizada permite acompanhar se estudantes alcançam o ponto de corte de proficiência — mas os dados precisam chegar íntegros, integrados e disponíveis para decisão.</a:t>
            </a:r>
            <a:endParaRPr sz="2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05854F6-75BB-45C6-ABE2-43AA9F971DF1}"/>
              </a:ext>
            </a:extLst>
          </p:cNvPr>
          <p:cNvSpPr>
            <a:spLocks noGrp="1"/>
          </p:cNvSpPr>
          <p:nvPr/>
        </p:nvSpPr>
        <p:spPr>
          <a:xfrm>
            <a:off x="685800" y="30175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800" b="1">
                <a:solidFill>
                  <a:srgbClr val="F2C94C"/>
                </a:solidFill>
              </a:rPr>
              <a:t>6</a:t>
            </a:r>
            <a:endParaRPr sz="28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9F0A8C8-2778-4A00-B1D9-61A59BB14975}"/>
              </a:ext>
            </a:extLst>
          </p:cNvPr>
          <p:cNvSpPr>
            <a:spLocks noGrp="1"/>
          </p:cNvSpPr>
          <p:nvPr/>
        </p:nvSpPr>
        <p:spPr>
          <a:xfrm>
            <a:off x="685800" y="350215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50">
                <a:solidFill>
                  <a:srgbClr val="CBD5E1"/>
                </a:solidFill>
              </a:rPr>
              <a:t>entidades oficiais</a:t>
            </a:r>
            <a:endParaRPr sz="11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1F0496B-7A4A-450C-AE99-A44685C93652}"/>
              </a:ext>
            </a:extLst>
          </p:cNvPr>
          <p:cNvSpPr>
            <a:spLocks noGrp="1"/>
          </p:cNvSpPr>
          <p:nvPr/>
        </p:nvSpPr>
        <p:spPr>
          <a:xfrm>
            <a:off x="3063240" y="30175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800" b="1">
                <a:solidFill>
                  <a:srgbClr val="D62728"/>
                </a:solidFill>
              </a:rPr>
              <a:t>3</a:t>
            </a:r>
            <a:endParaRPr sz="2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AEA49D8-C7BB-4E14-B621-297EC3498C1E}"/>
              </a:ext>
            </a:extLst>
          </p:cNvPr>
          <p:cNvSpPr>
            <a:spLocks noGrp="1"/>
          </p:cNvSpPr>
          <p:nvPr/>
        </p:nvSpPr>
        <p:spPr>
          <a:xfrm>
            <a:off x="3063240" y="350215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50">
                <a:solidFill>
                  <a:srgbClr val="CBD5E1"/>
                </a:solidFill>
              </a:rPr>
              <a:t>camadas Medallion</a:t>
            </a:r>
            <a:endParaRPr sz="11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CAD86E3-DAB1-4D2F-AF44-9AC8772D6060}"/>
              </a:ext>
            </a:extLst>
          </p:cNvPr>
          <p:cNvSpPr>
            <a:spLocks noGrp="1"/>
          </p:cNvSpPr>
          <p:nvPr/>
        </p:nvSpPr>
        <p:spPr>
          <a:xfrm>
            <a:off x="5440680" y="30175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800" b="1">
                <a:solidFill>
                  <a:srgbClr val="D62728"/>
                </a:solidFill>
              </a:rPr>
              <a:t>743</a:t>
            </a:r>
            <a:endParaRPr sz="28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A91D9C5-02EF-478C-9E99-074FCCAFD336}"/>
              </a:ext>
            </a:extLst>
          </p:cNvPr>
          <p:cNvSpPr>
            <a:spLocks noGrp="1"/>
          </p:cNvSpPr>
          <p:nvPr/>
        </p:nvSpPr>
        <p:spPr>
          <a:xfrm>
            <a:off x="5440680" y="350215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50">
                <a:solidFill>
                  <a:srgbClr val="CBD5E1"/>
                </a:solidFill>
              </a:rPr>
              <a:t>pontos de corte</a:t>
            </a:r>
            <a:endParaRPr sz="11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9C738BC-4BB6-4006-9F8B-CC1852837A9B}"/>
              </a:ext>
            </a:extLst>
          </p:cNvPr>
          <p:cNvSpPr>
            <a:spLocks noGrp="1"/>
          </p:cNvSpPr>
          <p:nvPr/>
        </p:nvSpPr>
        <p:spPr>
          <a:xfrm>
            <a:off x="868680" y="4892040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CBD5E1"/>
                </a:solidFill>
              </a:rPr>
              <a:t>A prioridade é dar visibilidade confiável a metas, desempenho e evolução até 2030.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1722459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85924C-4BB0-4745-ADE2-12EAB4DE8A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60A0F2-E521-4A66-A767-561C8BA96B41}"/>
              </a:ext>
            </a:extLst>
          </p:cNvPr>
          <p:cNvSpPr>
            <a:spLocks noGrp="1"/>
          </p:cNvSpPr>
          <p:nvPr/>
        </p:nvSpPr>
        <p:spPr>
          <a:xfrm>
            <a:off x="502920" y="320040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OBJETIVO</a:t>
            </a:r>
            <a:endParaRPr sz="10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F4D334-9A63-452B-B03E-77D4AFB9146A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Que decisão a pipeline permite apoiar?</a:t>
            </a:r>
            <a:endParaRPr sz="29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9F2D888-DB33-4E0F-B161-5F1CB27421F1}"/>
              </a:ext>
            </a:extLst>
          </p:cNvPr>
          <p:cNvSpPr>
            <a:spLocks noGrp="1"/>
          </p:cNvSpPr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3970">
            <a:solidFill>
              <a:srgbClr val="334155">
                <a:alpha val="9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77E82C2-7549-4C3A-AA28-B93673B3FE5D}"/>
              </a:ext>
            </a:extLst>
          </p:cNvPr>
          <p:cNvSpPr>
            <a:spLocks noGrp="1"/>
          </p:cNvSpPr>
          <p:nvPr/>
        </p:nvSpPr>
        <p:spPr>
          <a:xfrm>
            <a:off x="502920" y="6446520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80">
                <a:solidFill>
                  <a:srgbClr val="64748B"/>
                </a:solidFill>
              </a:rPr>
              <a:t>Tech Challenge Fase 2 • Pipeline de Alfabetização</a:t>
            </a:r>
            <a:endParaRPr sz="78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B542BE9-641A-4B9F-A632-6F21E2BA4A01}"/>
              </a:ext>
            </a:extLst>
          </p:cNvPr>
          <p:cNvSpPr>
            <a:spLocks noGrp="1"/>
          </p:cNvSpPr>
          <p:nvPr/>
        </p:nvSpPr>
        <p:spPr>
          <a:xfrm>
            <a:off x="822960" y="164640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sz="3000" b="1">
                <a:solidFill>
                  <a:srgbClr val="F8FAFC"/>
                </a:solidFill>
              </a:rPr>
              <a:t>Como consolidar fontes educacionais, atualizar eventos e entregar indicadores confiáveis sem elevar a complexidade operacional?</a:t>
            </a:r>
            <a:endParaRPr sz="30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62424AB-D4F8-4297-87C1-A3B36DF348FE}"/>
              </a:ext>
            </a:extLst>
          </p:cNvPr>
          <p:cNvSpPr>
            <a:spLocks noGrp="1"/>
          </p:cNvSpPr>
          <p:nvPr/>
        </p:nvSpPr>
        <p:spPr>
          <a:xfrm>
            <a:off x="868680" y="3063240"/>
            <a:ext cx="102412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22D3EE"/>
                </a:solidFill>
              </a:rPr>
              <a:t>Fontes oficiais → qualidade → análise → ação</a:t>
            </a:r>
            <a:endParaRPr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806DB78-7E59-4827-86C8-D9EFF7F0A841}"/>
              </a:ext>
            </a:extLst>
          </p:cNvPr>
          <p:cNvSpPr>
            <a:spLocks noGrp="1"/>
          </p:cNvSpPr>
          <p:nvPr/>
        </p:nvSpPr>
        <p:spPr>
          <a:xfrm>
            <a:off x="868680" y="3566160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700" b="1">
                <a:solidFill>
                  <a:srgbClr val="F8FAFC"/>
                </a:solidFill>
              </a:rPr>
              <a:t>Batch para histórico; streaming para novos eventos.</a:t>
            </a:r>
            <a:endParaRPr sz="27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9502775-F72D-42CF-839A-B1FDC1E78BC5}"/>
              </a:ext>
            </a:extLst>
          </p:cNvPr>
          <p:cNvSpPr>
            <a:spLocks noGrp="1"/>
          </p:cNvSpPr>
          <p:nvPr/>
        </p:nvSpPr>
        <p:spPr>
          <a:xfrm>
            <a:off x="1143000" y="4709160"/>
            <a:ext cx="97840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700">
                <a:solidFill>
                  <a:srgbClr val="CBD5E1"/>
                </a:solidFill>
              </a:rPr>
              <a:t>A Gold transforma dados operacionais em visão municipal, estadual e temporal.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918039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7A4FD6-D596-47C6-B84C-02458DA5FE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575CDD-99E2-4990-9216-FFE29B1F2EE8}"/>
              </a:ext>
            </a:extLst>
          </p:cNvPr>
          <p:cNvSpPr>
            <a:spLocks noGrp="1"/>
          </p:cNvSpPr>
          <p:nvPr/>
        </p:nvSpPr>
        <p:spPr>
          <a:xfrm>
            <a:off x="502920" y="320040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EVIDÊNCIA ANALÍTICA</a:t>
            </a:r>
            <a:endParaRPr sz="10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F41DA0-6BA5-412D-BD37-962548C6D914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amostra Gold revela evolução, mas metas ainda exigem atenção</a:t>
            </a:r>
            <a:endParaRPr sz="29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41AFEA8-6657-4F93-B103-ADAC92FB3583}"/>
              </a:ext>
            </a:extLst>
          </p:cNvPr>
          <p:cNvSpPr>
            <a:spLocks noGrp="1"/>
          </p:cNvSpPr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3970">
            <a:solidFill>
              <a:srgbClr val="334155">
                <a:alpha val="9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A653A1-994B-4982-A318-CD1E9BF5F06E}"/>
              </a:ext>
            </a:extLst>
          </p:cNvPr>
          <p:cNvSpPr>
            <a:spLocks noGrp="1"/>
          </p:cNvSpPr>
          <p:nvPr/>
        </p:nvSpPr>
        <p:spPr>
          <a:xfrm>
            <a:off x="502920" y="6446520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80">
                <a:solidFill>
                  <a:srgbClr val="64748B"/>
                </a:solidFill>
              </a:rPr>
              <a:t>Tech Challenge Fase 2 • Evidência Gold</a:t>
            </a:r>
            <a:endParaRPr sz="78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640D858-B605-42A2-AD13-EA5199CFB4FD}"/>
              </a:ext>
            </a:extLst>
          </p:cNvPr>
          <p:cNvSpPr>
            <a:spLocks noGrp="1"/>
          </p:cNvSpPr>
          <p:nvPr/>
        </p:nvSpPr>
        <p:spPr>
          <a:xfrm>
            <a:off x="658368" y="1508760"/>
            <a:ext cx="5257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endParaRPr sz="2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05854F6-75BB-45C6-ABE2-43AA9F971DF1}"/>
              </a:ext>
            </a:extLst>
          </p:cNvPr>
          <p:cNvSpPr>
            <a:spLocks noGrp="1"/>
          </p:cNvSpPr>
          <p:nvPr/>
        </p:nvSpPr>
        <p:spPr>
          <a:xfrm>
            <a:off x="685800" y="30175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endParaRPr sz="28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9F0A8C8-2778-4A00-B1D9-61A59BB14975}"/>
              </a:ext>
            </a:extLst>
          </p:cNvPr>
          <p:cNvSpPr>
            <a:spLocks noGrp="1"/>
          </p:cNvSpPr>
          <p:nvPr/>
        </p:nvSpPr>
        <p:spPr>
          <a:xfrm>
            <a:off x="685800" y="350215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1F0496B-7A4A-450C-AE99-A44685C93652}"/>
              </a:ext>
            </a:extLst>
          </p:cNvPr>
          <p:cNvSpPr>
            <a:spLocks noGrp="1"/>
          </p:cNvSpPr>
          <p:nvPr/>
        </p:nvSpPr>
        <p:spPr>
          <a:xfrm>
            <a:off x="3063240" y="30175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endParaRPr sz="2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AEA49D8-C7BB-4E14-B621-297EC3498C1E}"/>
              </a:ext>
            </a:extLst>
          </p:cNvPr>
          <p:cNvSpPr>
            <a:spLocks noGrp="1"/>
          </p:cNvSpPr>
          <p:nvPr/>
        </p:nvSpPr>
        <p:spPr>
          <a:xfrm>
            <a:off x="3063240" y="350215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CAD86E3-DAB1-4D2F-AF44-9AC8772D6060}"/>
              </a:ext>
            </a:extLst>
          </p:cNvPr>
          <p:cNvSpPr>
            <a:spLocks noGrp="1"/>
          </p:cNvSpPr>
          <p:nvPr/>
        </p:nvSpPr>
        <p:spPr>
          <a:xfrm>
            <a:off x="5440680" y="30175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endParaRPr sz="28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A91D9C5-02EF-478C-9E99-074FCCAFD336}"/>
              </a:ext>
            </a:extLst>
          </p:cNvPr>
          <p:cNvSpPr>
            <a:spLocks noGrp="1"/>
          </p:cNvSpPr>
          <p:nvPr/>
        </p:nvSpPr>
        <p:spPr>
          <a:xfrm>
            <a:off x="5440680" y="350215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50"/>
          </a:p>
        </p:txBody>
      </p:sp>
      <p:graphicFrame>
        <p:nvGraphicFramePr>
          <p:cNvPr id="31" name="Chart"/>
          <p:cNvGraphicFramePr/>
          <p:nvPr/>
        </p:nvGraphicFramePr>
        <p:xfrm>
          <a:off x="666750" y="1666875"/>
          <a:ext cx="638175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Retângulo 15">
            <a:extLst>
              <a:ext uri="{FF2B5EF4-FFF2-40B4-BE49-F238E27FC236}">
                <a16:creationId xmlns:a16="http://schemas.microsoft.com/office/drawing/2014/main" id="{880F114E-DF0A-450D-ACEE-5E9990CB4711}"/>
              </a:ext>
            </a:extLst>
          </p:cNvPr>
          <p:cNvSpPr>
            <a:spLocks noGrp="1"/>
          </p:cNvSpPr>
          <p:nvPr/>
        </p:nvSpPr>
        <p:spPr>
          <a:xfrm>
            <a:off x="7620000" y="1952625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>
                <a:solidFill>
                  <a:srgbClr val="22D3EE"/>
                </a:solidFill>
              </a:defRPr>
            </a:pPr>
            <a:r>
              <a:rPr sz="1275">
                <a:solidFill>
                  <a:srgbClr val="22D3EE"/>
                </a:solidFill>
              </a:rPr>
              <a:t>Leitura executiva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2C1C95C-7789-4F9D-B1DD-2D35D4F3CC57}"/>
              </a:ext>
            </a:extLst>
          </p:cNvPr>
          <p:cNvSpPr>
            <a:spLocks noGrp="1"/>
          </p:cNvSpPr>
          <p:nvPr/>
        </p:nvSpPr>
        <p:spPr>
          <a:xfrm>
            <a:off x="7239000" y="2524125"/>
            <a:ext cx="3714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Os seis municípios da amostra avançaram 5 p.p. entre 2023 e 2024.</a:t>
            </a:r>
          </a:p>
          <a:p>
            <a:endParaRPr sz="1275">
              <a:solidFill>
                <a:srgbClr val="F8FAFC"/>
              </a:solidFill>
            </a:endParaRPr>
          </a:p>
          <a:p>
            <a:pPr algn="ctr">
              <a:buNone/>
              <a:defRPr sz="1275">
                <a:solidFill>
                  <a:srgbClr val="F8FAFC"/>
                </a:solidFill>
              </a:defRPr>
            </a:pPr>
            <a:r>
              <a:rPr sz="1275">
                <a:solidFill>
                  <a:srgbClr val="F8FAFC"/>
                </a:solidFill>
              </a:rPr>
              <a:t>Em 2024, todos permanecem 2 p.p. abaixo da meta anual — sinal claro para priorização.</a:t>
            </a:r>
          </a:p>
        </p:txBody>
      </p:sp>
    </p:spTree>
    <p:extLst>
      <p:ext uri="{BB962C8B-B14F-4D97-AF65-F5344CB8AC3E}">
        <p14:creationId xmlns:p14="http://schemas.microsoft.com/office/powerpoint/2010/main" val="1722459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85924C-4BB0-4745-ADE2-12EAB4DE8A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60A0F2-E521-4A66-A767-561C8BA96B41}"/>
              </a:ext>
            </a:extLst>
          </p:cNvPr>
          <p:cNvSpPr>
            <a:spLocks noGrp="1"/>
          </p:cNvSpPr>
          <p:nvPr/>
        </p:nvSpPr>
        <p:spPr>
          <a:xfrm>
            <a:off x="502920" y="320040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ARQUITETURA</a:t>
            </a:r>
            <a:endParaRPr sz="10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F4D334-9A63-452B-B03E-77D4AFB9146A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 pipeline conecta a fonte oficial à decisão em cinco estágios</a:t>
            </a:r>
            <a:endParaRPr sz="29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9F2D888-DB33-4E0F-B161-5F1CB27421F1}"/>
              </a:ext>
            </a:extLst>
          </p:cNvPr>
          <p:cNvSpPr>
            <a:spLocks noGrp="1"/>
          </p:cNvSpPr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3970">
            <a:solidFill>
              <a:srgbClr val="334155">
                <a:alpha val="9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77E82C2-7549-4C3A-AA28-B93673B3FE5D}"/>
              </a:ext>
            </a:extLst>
          </p:cNvPr>
          <p:cNvSpPr>
            <a:spLocks noGrp="1"/>
          </p:cNvSpPr>
          <p:nvPr/>
        </p:nvSpPr>
        <p:spPr>
          <a:xfrm>
            <a:off x="502920" y="6446520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80">
                <a:solidFill>
                  <a:srgbClr val="64748B"/>
                </a:solidFill>
              </a:rPr>
              <a:t>Tech Challenge Fase 2 • Batch + Streaming + Medallion</a:t>
            </a:r>
            <a:endParaRPr sz="78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B542BE9-641A-4B9F-A632-6F21E2BA4A01}"/>
              </a:ext>
            </a:extLst>
          </p:cNvPr>
          <p:cNvSpPr>
            <a:spLocks noGrp="1"/>
          </p:cNvSpPr>
          <p:nvPr/>
        </p:nvSpPr>
        <p:spPr>
          <a:xfrm>
            <a:off x="822960" y="1508760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30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62424AB-D4F8-4297-87C1-A3B36DF348FE}"/>
              </a:ext>
            </a:extLst>
          </p:cNvPr>
          <p:cNvSpPr>
            <a:spLocks noGrp="1"/>
          </p:cNvSpPr>
          <p:nvPr/>
        </p:nvSpPr>
        <p:spPr>
          <a:xfrm>
            <a:off x="868680" y="3063240"/>
            <a:ext cx="102412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endParaRPr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806DB78-7E59-4827-86C8-D9EFF7F0A841}"/>
              </a:ext>
            </a:extLst>
          </p:cNvPr>
          <p:cNvSpPr>
            <a:spLocks noGrp="1"/>
          </p:cNvSpPr>
          <p:nvPr/>
        </p:nvSpPr>
        <p:spPr>
          <a:xfrm>
            <a:off x="868680" y="3566160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27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9502775-F72D-42CF-839A-B1FDC1E78BC5}"/>
              </a:ext>
            </a:extLst>
          </p:cNvPr>
          <p:cNvSpPr>
            <a:spLocks noGrp="1"/>
          </p:cNvSpPr>
          <p:nvPr/>
        </p:nvSpPr>
        <p:spPr>
          <a:xfrm>
            <a:off x="1143000" y="4709160"/>
            <a:ext cx="97840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70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58493E4-A7BE-4094-B55B-CB7226E46D8E}"/>
              </a:ext>
            </a:extLst>
          </p:cNvPr>
          <p:cNvSpPr>
            <a:spLocks noGrp="1"/>
          </p:cNvSpPr>
          <p:nvPr/>
        </p:nvSpPr>
        <p:spPr>
          <a:xfrm>
            <a:off x="619125" y="2667000"/>
            <a:ext cx="1714500" cy="781050"/>
          </a:xfrm>
          <a:prstGeom prst="roundRect">
            <a:avLst>
              <a:gd name="adj" fmla="val 14634"/>
            </a:avLst>
          </a:prstGeom>
          <a:solidFill>
            <a:srgbClr val="0F3A4A"/>
          </a:solidFill>
          <a:ln w="9525">
            <a:solidFill>
              <a:srgbClr val="22D3E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Base dos Dados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0F8396C-43DD-43E2-A815-CD660C991186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>
                <a:solidFill>
                  <a:srgbClr val="CBD5E1"/>
                </a:solidFill>
              </a:defRPr>
            </a:pPr>
            <a:r>
              <a:rPr sz="1275">
                <a:solidFill>
                  <a:srgbClr val="CBD5E1"/>
                </a:solidFill>
              </a:rPr>
              <a:t>6 entidades oficiais</a:t>
            </a:r>
          </a:p>
        </p:txBody>
      </p:sp>
      <p:sp>
        <p:nvSpPr>
          <p:cNvPr id="13" name="Seta: Divisa 12">
            <a:extLst>
              <a:ext uri="{FF2B5EF4-FFF2-40B4-BE49-F238E27FC236}">
                <a16:creationId xmlns:a16="http://schemas.microsoft.com/office/drawing/2014/main" id="{D8F962C4-7A1A-4F41-BFA0-63318141CF24}"/>
              </a:ext>
            </a:extLst>
          </p:cNvPr>
          <p:cNvSpPr>
            <a:spLocks noGrp="1"/>
          </p:cNvSpPr>
          <p:nvPr/>
        </p:nvSpPr>
        <p:spPr>
          <a:xfrm>
            <a:off x="2400300" y="2857500"/>
            <a:ext cx="266700" cy="361950"/>
          </a:xfrm>
          <a:prstGeom prst="chevron">
            <a:avLst/>
          </a:prstGeom>
          <a:solidFill>
            <a:srgbClr val="22D3EE"/>
          </a:solidFill>
          <a:ln w="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981BF6D-66E9-4CCA-B5EB-143F88D3D8C5}"/>
              </a:ext>
            </a:extLst>
          </p:cNvPr>
          <p:cNvSpPr>
            <a:spLocks noGrp="1"/>
          </p:cNvSpPr>
          <p:nvPr/>
        </p:nvSpPr>
        <p:spPr>
          <a:xfrm>
            <a:off x="2762250" y="2667000"/>
            <a:ext cx="1714500" cy="781050"/>
          </a:xfrm>
          <a:prstGeom prst="roundRect">
            <a:avLst>
              <a:gd name="adj" fmla="val 14634"/>
            </a:avLst>
          </a:prstGeom>
          <a:solidFill>
            <a:srgbClr val="A86B32"/>
          </a:solidFill>
          <a:ln w="9525">
            <a:solidFill>
              <a:srgbClr val="A86B32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Bronze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C4B6AA3-871A-4F14-B333-377374B78718}"/>
              </a:ext>
            </a:extLst>
          </p:cNvPr>
          <p:cNvSpPr>
            <a:spLocks noGrp="1"/>
          </p:cNvSpPr>
          <p:nvPr/>
        </p:nvSpPr>
        <p:spPr>
          <a:xfrm>
            <a:off x="2762250" y="3619500"/>
            <a:ext cx="1714500" cy="400050"/>
          </a:xfrm>
          <a:prstGeom prst="rect">
            <a:avLst/>
          </a:prstGeom>
          <a:solidFill>
            <a:srgbClr val="A86B32"/>
          </a:solidFill>
          <a:ln w="9525">
            <a:solidFill>
              <a:srgbClr val="A86B32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CBD5E1"/>
                </a:solidFill>
              </a:defRPr>
            </a:pPr>
            <a:r>
              <a:rPr sz="1275">
                <a:solidFill>
                  <a:schemeClr val="bg1"/>
                </a:solidFill>
              </a:rPr>
              <a:t>Histórico + Eventos</a:t>
            </a:r>
          </a:p>
        </p:txBody>
      </p:sp>
      <p:sp>
        <p:nvSpPr>
          <p:cNvPr id="16" name="Seta: Divisa 15">
            <a:extLst>
              <a:ext uri="{FF2B5EF4-FFF2-40B4-BE49-F238E27FC236}">
                <a16:creationId xmlns:a16="http://schemas.microsoft.com/office/drawing/2014/main" id="{68E90F57-3503-44D9-810A-BB33A9D66819}"/>
              </a:ext>
            </a:extLst>
          </p:cNvPr>
          <p:cNvSpPr>
            <a:spLocks noGrp="1"/>
          </p:cNvSpPr>
          <p:nvPr/>
        </p:nvSpPr>
        <p:spPr>
          <a:xfrm>
            <a:off x="4543425" y="2857500"/>
            <a:ext cx="266700" cy="361950"/>
          </a:xfrm>
          <a:prstGeom prst="chevron">
            <a:avLst/>
          </a:prstGeom>
          <a:solidFill>
            <a:srgbClr val="22D3EE"/>
          </a:solidFill>
          <a:ln w="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153EC55-2BAA-4FAC-9441-F0FE8349C43A}"/>
              </a:ext>
            </a:extLst>
          </p:cNvPr>
          <p:cNvSpPr>
            <a:spLocks noGrp="1"/>
          </p:cNvSpPr>
          <p:nvPr/>
        </p:nvSpPr>
        <p:spPr>
          <a:xfrm>
            <a:off x="4905375" y="2667000"/>
            <a:ext cx="1714500" cy="781050"/>
          </a:xfrm>
          <a:prstGeom prst="roundRect">
            <a:avLst>
              <a:gd name="adj" fmla="val 14634"/>
            </a:avLst>
          </a:prstGeom>
          <a:solidFill>
            <a:srgbClr val="B9C2CC"/>
          </a:solidFill>
          <a:ln w="9525">
            <a:solidFill>
              <a:srgbClr val="B9C2CC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Silver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71ABAF6-CD58-43A7-8D27-73F85DFA7F20}"/>
              </a:ext>
            </a:extLst>
          </p:cNvPr>
          <p:cNvSpPr>
            <a:spLocks noGrp="1"/>
          </p:cNvSpPr>
          <p:nvPr/>
        </p:nvSpPr>
        <p:spPr>
          <a:xfrm>
            <a:off x="4905375" y="3619500"/>
            <a:ext cx="1714500" cy="400050"/>
          </a:xfrm>
          <a:prstGeom prst="rect">
            <a:avLst/>
          </a:prstGeom>
          <a:solidFill>
            <a:srgbClr val="B9C2CC"/>
          </a:solidFill>
          <a:ln w="9525">
            <a:solidFill>
              <a:srgbClr val="B9C2CC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CBD5E1"/>
                </a:solidFill>
              </a:defRPr>
            </a:pPr>
            <a:r>
              <a:rPr sz="1275">
                <a:solidFill>
                  <a:schemeClr val="bg1"/>
                </a:solidFill>
              </a:rPr>
              <a:t>Tipos + Chaves + DQ</a:t>
            </a:r>
          </a:p>
        </p:txBody>
      </p:sp>
      <p:sp>
        <p:nvSpPr>
          <p:cNvPr id="19" name="Seta: Divisa 18">
            <a:extLst>
              <a:ext uri="{FF2B5EF4-FFF2-40B4-BE49-F238E27FC236}">
                <a16:creationId xmlns:a16="http://schemas.microsoft.com/office/drawing/2014/main" id="{ACDB28C8-866E-4611-BA1E-B9C12AED1043}"/>
              </a:ext>
            </a:extLst>
          </p:cNvPr>
          <p:cNvSpPr>
            <a:spLocks noGrp="1"/>
          </p:cNvSpPr>
          <p:nvPr/>
        </p:nvSpPr>
        <p:spPr>
          <a:xfrm>
            <a:off x="6686550" y="2857500"/>
            <a:ext cx="266700" cy="361950"/>
          </a:xfrm>
          <a:prstGeom prst="chevron">
            <a:avLst/>
          </a:prstGeom>
          <a:solidFill>
            <a:srgbClr val="22D3EE"/>
          </a:solidFill>
          <a:ln w="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6E4F844-95F3-41FE-8873-E3B535BA4910}"/>
              </a:ext>
            </a:extLst>
          </p:cNvPr>
          <p:cNvSpPr>
            <a:spLocks noGrp="1"/>
          </p:cNvSpPr>
          <p:nvPr/>
        </p:nvSpPr>
        <p:spPr>
          <a:xfrm>
            <a:off x="7048500" y="2667000"/>
            <a:ext cx="1714500" cy="781050"/>
          </a:xfrm>
          <a:prstGeom prst="roundRect">
            <a:avLst>
              <a:gd name="adj" fmla="val 14634"/>
            </a:avLst>
          </a:prstGeom>
          <a:solidFill>
            <a:srgbClr val="D4AF37"/>
          </a:solidFill>
          <a:ln w="9525">
            <a:solidFill>
              <a:srgbClr val="D4AF3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Gold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C793E26-78F5-4CE3-A7C4-EA3AB8A87CBE}"/>
              </a:ext>
            </a:extLst>
          </p:cNvPr>
          <p:cNvSpPr>
            <a:spLocks noGrp="1"/>
          </p:cNvSpPr>
          <p:nvPr/>
        </p:nvSpPr>
        <p:spPr>
          <a:xfrm>
            <a:off x="7048500" y="3619500"/>
            <a:ext cx="1714500" cy="400050"/>
          </a:xfrm>
          <a:prstGeom prst="rect">
            <a:avLst/>
          </a:prstGeom>
          <a:solidFill>
            <a:srgbClr val="D4AF37"/>
          </a:solidFill>
          <a:ln w="9525">
            <a:solidFill>
              <a:srgbClr val="D4AF3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CBD5E1"/>
                </a:solidFill>
              </a:defRPr>
            </a:pPr>
            <a:r>
              <a:rPr sz="1275">
                <a:solidFill>
                  <a:schemeClr val="bg1"/>
                </a:solidFill>
              </a:rPr>
              <a:t>Indicadores e Metas</a:t>
            </a:r>
          </a:p>
        </p:txBody>
      </p:sp>
      <p:sp>
        <p:nvSpPr>
          <p:cNvPr id="22" name="Seta: Divisa 21">
            <a:extLst>
              <a:ext uri="{FF2B5EF4-FFF2-40B4-BE49-F238E27FC236}">
                <a16:creationId xmlns:a16="http://schemas.microsoft.com/office/drawing/2014/main" id="{D66FBE7E-B93E-4843-8F9B-C8E69C807F61}"/>
              </a:ext>
            </a:extLst>
          </p:cNvPr>
          <p:cNvSpPr>
            <a:spLocks noGrp="1"/>
          </p:cNvSpPr>
          <p:nvPr/>
        </p:nvSpPr>
        <p:spPr>
          <a:xfrm>
            <a:off x="8829675" y="2857500"/>
            <a:ext cx="266700" cy="361950"/>
          </a:xfrm>
          <a:prstGeom prst="chevron">
            <a:avLst/>
          </a:prstGeom>
          <a:solidFill>
            <a:srgbClr val="22D3EE"/>
          </a:solidFill>
          <a:ln w="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53C2CDB-6EC8-4E10-9599-FCA6B3E28150}"/>
              </a:ext>
            </a:extLst>
          </p:cNvPr>
          <p:cNvSpPr>
            <a:spLocks noGrp="1"/>
          </p:cNvSpPr>
          <p:nvPr/>
        </p:nvSpPr>
        <p:spPr>
          <a:xfrm>
            <a:off x="9191625" y="2667000"/>
            <a:ext cx="1714500" cy="781050"/>
          </a:xfrm>
          <a:prstGeom prst="roundRect">
            <a:avLst>
              <a:gd name="adj" fmla="val 14634"/>
            </a:avLst>
          </a:prstGeom>
          <a:solidFill>
            <a:srgbClr val="10233F"/>
          </a:solidFill>
          <a:ln w="9525">
            <a:solidFill>
              <a:srgbClr val="22D3E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Decisão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21A4B03-BD9F-4AD7-B4B5-F5DBBDD4A0A3}"/>
              </a:ext>
            </a:extLst>
          </p:cNvPr>
          <p:cNvSpPr>
            <a:spLocks noGrp="1"/>
          </p:cNvSpPr>
          <p:nvPr/>
        </p:nvSpPr>
        <p:spPr>
          <a:xfrm>
            <a:off x="9191625" y="36195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>
                <a:solidFill>
                  <a:srgbClr val="CBD5E1"/>
                </a:solidFill>
              </a:defRPr>
            </a:pPr>
            <a:r>
              <a:rPr sz="1275">
                <a:solidFill>
                  <a:srgbClr val="CBD5E1"/>
                </a:solidFill>
              </a:rPr>
              <a:t>BI, IA e políticas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D91189A-3D8B-41FB-A461-ABFDCDB6FC39}"/>
              </a:ext>
            </a:extLst>
          </p:cNvPr>
          <p:cNvSpPr>
            <a:spLocks noGrp="1"/>
          </p:cNvSpPr>
          <p:nvPr/>
        </p:nvSpPr>
        <p:spPr>
          <a:xfrm>
            <a:off x="1571625" y="1632767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>
                <a:solidFill>
                  <a:srgbClr val="CBD5E1"/>
                </a:solidFill>
              </a:defRPr>
            </a:pPr>
            <a:r>
              <a:rPr sz="2100">
                <a:solidFill>
                  <a:srgbClr val="CBD5E1"/>
                </a:solidFill>
              </a:rPr>
              <a:t>Batch: BigQuery Scheduled Queries  •  Streaming: Pub/Sub → BigQuery  •  Armazenamento: GCS / Parquet</a:t>
            </a:r>
          </a:p>
        </p:txBody>
      </p:sp>
    </p:spTree>
    <p:extLst>
      <p:ext uri="{BB962C8B-B14F-4D97-AF65-F5344CB8AC3E}">
        <p14:creationId xmlns:p14="http://schemas.microsoft.com/office/powerpoint/2010/main" val="918039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FEC512-BFE3-472D-85EB-C99C532C35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DDCA0FD-E785-4C05-AEC8-EF9E7174C303}"/>
              </a:ext>
            </a:extLst>
          </p:cNvPr>
          <p:cNvSpPr>
            <a:spLocks noGrp="1"/>
          </p:cNvSpPr>
          <p:nvPr/>
        </p:nvSpPr>
        <p:spPr>
          <a:xfrm>
            <a:off x="502920" y="320040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CONTROLES OPERACIONAIS</a:t>
            </a:r>
            <a:endParaRPr sz="10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6A824D-1FE9-4BBF-84EF-88786AA1EB86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Qualidade e observabilidade reduzem o risco de decisão</a:t>
            </a:r>
            <a:endParaRPr sz="29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42AFA9A-9A32-4295-ABAD-30000D7F865C}"/>
              </a:ext>
            </a:extLst>
          </p:cNvPr>
          <p:cNvSpPr>
            <a:spLocks noGrp="1"/>
          </p:cNvSpPr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3970">
            <a:solidFill>
              <a:srgbClr val="334155">
                <a:alpha val="9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2B1C0D-0DDE-4008-BA49-98E1EB97B640}"/>
              </a:ext>
            </a:extLst>
          </p:cNvPr>
          <p:cNvSpPr>
            <a:spLocks noGrp="1"/>
          </p:cNvSpPr>
          <p:nvPr/>
        </p:nvSpPr>
        <p:spPr>
          <a:xfrm>
            <a:off x="502920" y="6446520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80">
                <a:solidFill>
                  <a:srgbClr val="64748B"/>
                </a:solidFill>
              </a:rPr>
              <a:t>Tech Challenge Fase 2 • Pipeline de Alfabetização</a:t>
            </a:r>
            <a:endParaRPr sz="78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4880A36-9211-4CA0-A97C-4B30DD859055}"/>
              </a:ext>
            </a:extLst>
          </p:cNvPr>
          <p:cNvSpPr>
            <a:spLocks noGrp="1"/>
          </p:cNvSpPr>
          <p:nvPr/>
        </p:nvSpPr>
        <p:spPr>
          <a:xfrm>
            <a:off x="868680" y="1508760"/>
            <a:ext cx="5577840" cy="4023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buNone/>
            </a:pPr>
            <a:r>
              <a:rPr sz="1800">
                <a:solidFill>
                  <a:srgbClr val="F8FAFC"/>
                </a:solidFill>
              </a:rPr>
              <a:t>• Regras para chaves, ausência, faixa e consistência</a:t>
            </a:r>
            <a:endParaRPr sz="1800"/>
          </a:p>
          <a:p>
            <a:pPr marL="0" indent="0" algn="just">
              <a:buNone/>
            </a:pPr>
            <a:r>
              <a:rPr sz="1800">
                <a:solidFill>
                  <a:srgbClr val="F8FAFC"/>
                </a:solidFill>
              </a:rPr>
              <a:t>• Quality checks registradas no BigQuery</a:t>
            </a:r>
            <a:endParaRPr sz="1800"/>
          </a:p>
          <a:p>
            <a:pPr marL="0" indent="0" algn="just">
              <a:buNone/>
            </a:pPr>
            <a:r>
              <a:t>• Eventos inválidos encaminhados à DLQ local</a:t>
            </a:r>
            <a:endParaRPr sz="1800"/>
          </a:p>
          <a:p>
            <a:pPr marL="0" indent="0" algn="just">
              <a:buNone/>
            </a:pPr>
            <a:r>
              <a:rPr sz="1800">
                <a:solidFill>
                  <a:srgbClr val="F8FAFC"/>
                </a:solidFill>
              </a:rPr>
              <a:t>• Runbook orienta resposta a falhas e backlog</a:t>
            </a:r>
            <a:endParaRPr sz="18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A201A51-12A7-4EC2-8346-0F0B677967D1}"/>
              </a:ext>
            </a:extLst>
          </p:cNvPr>
          <p:cNvSpPr>
            <a:spLocks noGrp="1"/>
          </p:cNvSpPr>
          <p:nvPr/>
        </p:nvSpPr>
        <p:spPr>
          <a:xfrm>
            <a:off x="7086600" y="178308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22D3EE"/>
                </a:solidFill>
              </a:rPr>
              <a:t>Resultado validado</a:t>
            </a:r>
            <a:endParaRPr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6DA3505-3DFB-47DB-97EC-F44F30B05998}"/>
              </a:ext>
            </a:extLst>
          </p:cNvPr>
          <p:cNvSpPr>
            <a:spLocks noGrp="1"/>
          </p:cNvSpPr>
          <p:nvPr/>
        </p:nvSpPr>
        <p:spPr>
          <a:xfrm>
            <a:off x="6720840" y="2331720"/>
            <a:ext cx="475488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F8FAFC"/>
                </a:solidFill>
              </a:rPr>
              <a:t>7 regras aprovadas</a:t>
            </a:r>
            <a:endParaRPr sz="28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37D2FC8-EEC9-43E1-9DA9-8F5F5E283EB0}"/>
              </a:ext>
            </a:extLst>
          </p:cNvPr>
          <p:cNvSpPr>
            <a:spLocks noGrp="1"/>
          </p:cNvSpPr>
          <p:nvPr/>
        </p:nvSpPr>
        <p:spPr>
          <a:xfrm>
            <a:off x="6949440" y="3982123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800">
                <a:solidFill>
                  <a:srgbClr val="CBD5E1"/>
                </a:solidFill>
              </a:rPr>
              <a:t>0 falhas críticas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352633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7A4FD6-D596-47C6-B84C-02458DA5FE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575CDD-99E2-4990-9216-FFE29B1F2EE8}"/>
              </a:ext>
            </a:extLst>
          </p:cNvPr>
          <p:cNvSpPr>
            <a:spLocks noGrp="1"/>
          </p:cNvSpPr>
          <p:nvPr/>
        </p:nvSpPr>
        <p:spPr>
          <a:xfrm>
            <a:off x="502920" y="320040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FINOPS</a:t>
            </a:r>
            <a:endParaRPr sz="10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F41DA0-6BA5-412D-BD37-962548C6D914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arquitetura evita custo fixo e releitura desnecessária</a:t>
            </a:r>
            <a:endParaRPr sz="29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41AFEA8-6657-4F93-B103-ADAC92FB3583}"/>
              </a:ext>
            </a:extLst>
          </p:cNvPr>
          <p:cNvSpPr>
            <a:spLocks noGrp="1"/>
          </p:cNvSpPr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3970">
            <a:solidFill>
              <a:srgbClr val="334155">
                <a:alpha val="9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A653A1-994B-4982-A318-CD1E9BF5F06E}"/>
              </a:ext>
            </a:extLst>
          </p:cNvPr>
          <p:cNvSpPr>
            <a:spLocks noGrp="1"/>
          </p:cNvSpPr>
          <p:nvPr/>
        </p:nvSpPr>
        <p:spPr>
          <a:xfrm>
            <a:off x="502920" y="6446520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80">
                <a:solidFill>
                  <a:srgbClr val="64748B"/>
                </a:solidFill>
              </a:rPr>
              <a:t>Tech Challenge Fase 2 • Pipeline de Alfabetização</a:t>
            </a:r>
            <a:endParaRPr sz="78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640D858-B605-42A2-AD13-EA5199CFB4FD}"/>
              </a:ext>
            </a:extLst>
          </p:cNvPr>
          <p:cNvSpPr>
            <a:spLocks noGrp="1"/>
          </p:cNvSpPr>
          <p:nvPr/>
        </p:nvSpPr>
        <p:spPr>
          <a:xfrm>
            <a:off x="658368" y="1508760"/>
            <a:ext cx="5257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8409" lnSpcReduction="20000"/>
          </a:bodyPr>
          <a:lstStyle/>
          <a:p>
            <a:pPr marL="0" indent="0" algn="just">
              <a:buNone/>
            </a:pPr>
            <a:r>
              <a:rPr sz="2200" b="1">
                <a:solidFill>
                  <a:srgbClr val="F8FAFC"/>
                </a:solidFill>
              </a:rPr>
              <a:t>BigQuery serverless e consultas agendadas eliminam clusters ociosos. Particionamento, clustering e camadas materializadas reduzem bytes processados; Parquet e lifecycle reduzem custo de armazenamento.</a:t>
            </a:r>
            <a:endParaRPr sz="2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05854F6-75BB-45C6-ABE2-43AA9F971DF1}"/>
              </a:ext>
            </a:extLst>
          </p:cNvPr>
          <p:cNvSpPr>
            <a:spLocks noGrp="1"/>
          </p:cNvSpPr>
          <p:nvPr/>
        </p:nvSpPr>
        <p:spPr>
          <a:xfrm>
            <a:off x="685800" y="30175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800" b="1">
                <a:solidFill>
                  <a:srgbClr val="F2C94C"/>
                </a:solidFill>
              </a:rPr>
              <a:t>&lt; US$ 1</a:t>
            </a:r>
            <a:endParaRPr sz="28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9F0A8C8-2778-4A00-B1D9-61A59BB14975}"/>
              </a:ext>
            </a:extLst>
          </p:cNvPr>
          <p:cNvSpPr>
            <a:spLocks noGrp="1"/>
          </p:cNvSpPr>
          <p:nvPr/>
        </p:nvSpPr>
        <p:spPr>
          <a:xfrm>
            <a:off x="685800" y="350215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50">
                <a:solidFill>
                  <a:srgbClr val="CBD5E1"/>
                </a:solidFill>
              </a:rPr>
              <a:t>estimativa mensal</a:t>
            </a:r>
            <a:endParaRPr sz="11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1F0496B-7A4A-450C-AE99-A44685C93652}"/>
              </a:ext>
            </a:extLst>
          </p:cNvPr>
          <p:cNvSpPr>
            <a:spLocks noGrp="1"/>
          </p:cNvSpPr>
          <p:nvPr/>
        </p:nvSpPr>
        <p:spPr>
          <a:xfrm>
            <a:off x="3063240" y="30175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800" b="1">
                <a:solidFill>
                  <a:srgbClr val="D62728"/>
                </a:solidFill>
              </a:rPr>
              <a:t>R$ 10</a:t>
            </a:r>
            <a:endParaRPr sz="2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AEA49D8-C7BB-4E14-B621-297EC3498C1E}"/>
              </a:ext>
            </a:extLst>
          </p:cNvPr>
          <p:cNvSpPr>
            <a:spLocks noGrp="1"/>
          </p:cNvSpPr>
          <p:nvPr/>
        </p:nvSpPr>
        <p:spPr>
          <a:xfrm>
            <a:off x="3063240" y="350215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50">
                <a:solidFill>
                  <a:srgbClr val="CBD5E1"/>
                </a:solidFill>
              </a:rPr>
              <a:t>budget configurado</a:t>
            </a:r>
            <a:endParaRPr sz="11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CAD86E3-DAB1-4D2F-AF44-9AC8772D6060}"/>
              </a:ext>
            </a:extLst>
          </p:cNvPr>
          <p:cNvSpPr>
            <a:spLocks noGrp="1"/>
          </p:cNvSpPr>
          <p:nvPr/>
        </p:nvSpPr>
        <p:spPr>
          <a:xfrm>
            <a:off x="5440680" y="30175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800" b="1">
                <a:solidFill>
                  <a:srgbClr val="D62728"/>
                </a:solidFill>
              </a:rPr>
              <a:t>30 dias</a:t>
            </a:r>
            <a:endParaRPr sz="28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A91D9C5-02EF-478C-9E99-074FCCAFD336}"/>
              </a:ext>
            </a:extLst>
          </p:cNvPr>
          <p:cNvSpPr>
            <a:spLocks noGrp="1"/>
          </p:cNvSpPr>
          <p:nvPr/>
        </p:nvSpPr>
        <p:spPr>
          <a:xfrm>
            <a:off x="5440680" y="350215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50">
                <a:solidFill>
                  <a:srgbClr val="CBD5E1"/>
                </a:solidFill>
              </a:rPr>
              <a:t>Nearline no GCS</a:t>
            </a:r>
            <a:endParaRPr sz="11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9C738BC-4BB6-4006-9F8B-CC1852837A9B}"/>
              </a:ext>
            </a:extLst>
          </p:cNvPr>
          <p:cNvSpPr>
            <a:spLocks noGrp="1"/>
          </p:cNvSpPr>
          <p:nvPr/>
        </p:nvSpPr>
        <p:spPr>
          <a:xfrm>
            <a:off x="868680" y="4892040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6748"/>
          </a:bodyPr>
          <a:lstStyle/>
          <a:p>
            <a:pPr marL="0" indent="0" algn="ctr">
              <a:buNone/>
            </a:pPr>
            <a:r>
              <a:rPr sz="2100">
                <a:solidFill>
                  <a:srgbClr val="CBD5E1"/>
                </a:solidFill>
              </a:rPr>
              <a:t>O controle combina estimativa, orçamento, métricas e procedimento para registrar custo observado.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1722459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4741EC-D5FA-4DA9-9E99-65CFA34CED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E38856-E94A-4AF5-AE5F-5A5589F31CAD}"/>
              </a:ext>
            </a:extLst>
          </p:cNvPr>
          <p:cNvSpPr>
            <a:spLocks noGrp="1"/>
          </p:cNvSpPr>
          <p:nvPr/>
        </p:nvSpPr>
        <p:spPr>
          <a:xfrm>
            <a:off x="502920" y="320040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TECNOLOGIAS E DECISÕES</a:t>
            </a:r>
            <a:endParaRPr sz="10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4B8FE9-16BB-4CB9-A61C-6088AC3CE26E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/>
          </a:bodyPr>
          <a:lstStyle/>
          <a:p>
            <a:pPr marL="0" indent="0">
              <a:buNone/>
            </a:pPr>
            <a:r>
              <a:rPr sz="2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Cada escolha equilibra custo, confiabilidade e simplicidade operacional</a:t>
            </a:r>
            <a:endParaRPr sz="29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16EEEAD-D0F4-455C-9CC0-8D321A8230E2}"/>
              </a:ext>
            </a:extLst>
          </p:cNvPr>
          <p:cNvSpPr>
            <a:spLocks noGrp="1"/>
          </p:cNvSpPr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3970">
            <a:solidFill>
              <a:srgbClr val="334155">
                <a:alpha val="9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187856C-5592-4F26-A7B3-4A564A23C7D7}"/>
              </a:ext>
            </a:extLst>
          </p:cNvPr>
          <p:cNvSpPr>
            <a:spLocks noGrp="1"/>
          </p:cNvSpPr>
          <p:nvPr/>
        </p:nvSpPr>
        <p:spPr>
          <a:xfrm>
            <a:off x="502920" y="6446520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80">
                <a:solidFill>
                  <a:srgbClr val="64748B"/>
                </a:solidFill>
              </a:rPr>
              <a:t>Tech Challenge Fase 2 • Decisões arquiteturais</a:t>
            </a:r>
            <a:endParaRPr sz="78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3F4AA47-AB46-485F-8019-CAD5A59DF205}"/>
              </a:ext>
            </a:extLst>
          </p:cNvPr>
          <p:cNvSpPr>
            <a:spLocks noGrp="1"/>
          </p:cNvSpPr>
          <p:nvPr/>
        </p:nvSpPr>
        <p:spPr>
          <a:xfrm>
            <a:off x="868680" y="1508760"/>
            <a:ext cx="5303520" cy="29260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• BigQuery + GCS/Parquet: warehouse analítico e lake econômico, portátil</a:t>
            </a:r>
            <a:endParaRPr sz="1800"/>
          </a:p>
          <a:p>
            <a:pPr marL="0" indent="0" algn="l">
              <a:buNone/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• Pub/Sub → BigQuery: streaming direto, com menos componentes</a:t>
            </a:r>
            <a:endParaRPr sz="1800"/>
          </a:p>
          <a:p>
            <a:pPr marL="0" indent="0" algn="l">
              <a:buNone/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• Terraform: infraestrutura reproduzível e IAM mínimo</a:t>
            </a:r>
            <a:endParaRPr sz="1800"/>
          </a:p>
          <a:p>
            <a:pPr marL="0" indent="0" algn="l">
              <a:buNone/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• DuckDB local: execução e testes sem depender de credenciais cloud</a:t>
            </a:r>
            <a:endParaRPr sz="18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6AF2632-D505-49F5-8BE2-EDBD9EDE6432}"/>
              </a:ext>
            </a:extLst>
          </p:cNvPr>
          <p:cNvSpPr>
            <a:spLocks noGrp="1"/>
          </p:cNvSpPr>
          <p:nvPr/>
        </p:nvSpPr>
        <p:spPr>
          <a:xfrm>
            <a:off x="6720840" y="1691640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22D3EE"/>
                </a:solidFill>
              </a:rPr>
              <a:t>Trade-off principal</a:t>
            </a:r>
            <a:endParaRPr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56C3ECA-8650-4A6F-9384-619A5C68A71E}"/>
              </a:ext>
            </a:extLst>
          </p:cNvPr>
          <p:cNvSpPr>
            <a:spLocks noGrp="1"/>
          </p:cNvSpPr>
          <p:nvPr/>
        </p:nvSpPr>
        <p:spPr>
          <a:xfrm>
            <a:off x="6675120" y="2286000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F8FAFC"/>
                </a:solidFill>
              </a:rPr>
              <a:t>Serverless</a:t>
            </a:r>
            <a:endParaRPr sz="3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BC6000E-A057-4FE9-843A-139EBD9A44A5}"/>
              </a:ext>
            </a:extLst>
          </p:cNvPr>
          <p:cNvSpPr>
            <a:spLocks noGrp="1"/>
          </p:cNvSpPr>
          <p:nvPr/>
        </p:nvSpPr>
        <p:spPr>
          <a:xfrm>
            <a:off x="6720840" y="3154680"/>
            <a:ext cx="4389120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  <a:defRPr sz="1500">
                <a:solidFill>
                  <a:srgbClr val="CBD5E1"/>
                </a:solidFill>
              </a:defRPr>
            </a:pPr>
            <a:r>
              <a:rPr sz="1500">
                <a:solidFill>
                  <a:srgbClr val="CBD5E1"/>
                </a:solidFill>
              </a:rPr>
              <a:t>Batch com Scheduled Queries; streaming direto via Pub/Sub. Dataflow só se justifica com maior volume ou janelas complexas.</a:t>
            </a:r>
            <a:endParaRPr sz="1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291B6A2-7D9C-4C97-86FE-353FD333645C}"/>
              </a:ext>
            </a:extLst>
          </p:cNvPr>
          <p:cNvSpPr>
            <a:spLocks noGrp="1"/>
          </p:cNvSpPr>
          <p:nvPr/>
        </p:nvSpPr>
        <p:spPr>
          <a:xfrm>
            <a:off x="868680" y="5486400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  <a:defRPr sz="1350">
                <a:solidFill>
                  <a:srgbClr val="94A3B8"/>
                </a:solidFill>
              </a:defRPr>
            </a:pPr>
            <a:r>
              <a:rPr sz="1350" b="1">
                <a:solidFill>
                  <a:srgbClr val="94A3B8"/>
                </a:solidFill>
              </a:rPr>
              <a:t>Síntese: custo, performance e simplicidade equilibrados, sem superdimensionamento.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289939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4741EC-D5FA-4DA9-9E99-65CFA34CED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E38856-E94A-4AF5-AE5F-5A5589F31CAD}"/>
              </a:ext>
            </a:extLst>
          </p:cNvPr>
          <p:cNvSpPr>
            <a:spLocks noGrp="1"/>
          </p:cNvSpPr>
          <p:nvPr/>
        </p:nvSpPr>
        <p:spPr>
          <a:xfrm>
            <a:off x="502920" y="320040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EVIDÊNCIAS</a:t>
            </a:r>
            <a:endParaRPr sz="10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4B8FE9-16BB-4CB9-A61C-6088AC3CE26E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execução comprova uma entrega técnica completa</a:t>
            </a:r>
            <a:endParaRPr sz="29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16EEEAD-D0F4-455C-9CC0-8D321A8230E2}"/>
              </a:ext>
            </a:extLst>
          </p:cNvPr>
          <p:cNvSpPr>
            <a:spLocks noGrp="1"/>
          </p:cNvSpPr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3970">
            <a:solidFill>
              <a:srgbClr val="334155">
                <a:alpha val="9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187856C-5592-4F26-A7B3-4A564A23C7D7}"/>
              </a:ext>
            </a:extLst>
          </p:cNvPr>
          <p:cNvSpPr>
            <a:spLocks noGrp="1"/>
          </p:cNvSpPr>
          <p:nvPr/>
        </p:nvSpPr>
        <p:spPr>
          <a:xfrm>
            <a:off x="502920" y="6446520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80">
                <a:solidFill>
                  <a:srgbClr val="64748B"/>
                </a:solidFill>
              </a:rPr>
              <a:t>Tech Challenge Fase 2 • Evidências verificáveis</a:t>
            </a:r>
            <a:endParaRPr sz="78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3F4AA47-AB46-485F-8019-CAD5A59DF205}"/>
              </a:ext>
            </a:extLst>
          </p:cNvPr>
          <p:cNvSpPr>
            <a:spLocks noGrp="1"/>
          </p:cNvSpPr>
          <p:nvPr/>
        </p:nvSpPr>
        <p:spPr>
          <a:xfrm>
            <a:off x="868680" y="1508760"/>
            <a:ext cx="5303520" cy="29260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buNone/>
            </a:pPr>
            <a:r>
              <a:rPr sz="1800">
                <a:solidFill>
                  <a:schemeClr val="bg1"/>
                </a:solidFill>
              </a:rPr>
              <a:t>• 6 cargas Bronze, 6 Silver e 5 Gold concluídas</a:t>
            </a:r>
          </a:p>
          <a:p>
            <a:pPr marL="0" indent="0" algn="just">
              <a:buNone/>
            </a:pPr>
            <a:r>
              <a:rPr sz="1800">
                <a:solidFill>
                  <a:schemeClr val="bg1"/>
                </a:solidFill>
              </a:rPr>
              <a:t>• 7 regras de qualidade aprovadas e 0 falhas</a:t>
            </a:r>
          </a:p>
          <a:p>
            <a:pPr marL="0" indent="0" algn="just">
              <a:buNone/>
            </a:pPr>
            <a:r>
              <a:rPr>
                <a:solidFill>
                  <a:schemeClr val="bg1"/>
                </a:solidFill>
              </a:rPr>
              <a:t>• 3 arquivos Parquet exportados ao GCS</a:t>
            </a:r>
            <a:endParaRPr sz="180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sz="1800">
                <a:solidFill>
                  <a:schemeClr val="bg1"/>
                </a:solidFill>
              </a:rPr>
              <a:t>• Evento canário e validação local da DLQ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6AF2632-D505-49F5-8BE2-EDBD9EDE6432}"/>
              </a:ext>
            </a:extLst>
          </p:cNvPr>
          <p:cNvSpPr>
            <a:spLocks noGrp="1"/>
          </p:cNvSpPr>
          <p:nvPr/>
        </p:nvSpPr>
        <p:spPr>
          <a:xfrm>
            <a:off x="6720840" y="1691640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22D3EE"/>
                </a:solidFill>
              </a:rPr>
              <a:t>Execução validada</a:t>
            </a:r>
            <a:endParaRPr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56C3ECA-8650-4A6F-9384-619A5C68A71E}"/>
              </a:ext>
            </a:extLst>
          </p:cNvPr>
          <p:cNvSpPr>
            <a:spLocks noGrp="1"/>
          </p:cNvSpPr>
          <p:nvPr/>
        </p:nvSpPr>
        <p:spPr>
          <a:xfrm>
            <a:off x="6675120" y="2286000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chemeClr val="bg1"/>
                </a:solidFill>
              </a:rPr>
              <a:t>19 consultas concluídas</a:t>
            </a:r>
            <a:endParaRPr sz="3400">
              <a:solidFill>
                <a:schemeClr val="bg1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BC6000E-A057-4FE9-843A-139EBD9A44A5}"/>
              </a:ext>
            </a:extLst>
          </p:cNvPr>
          <p:cNvSpPr>
            <a:spLocks noGrp="1"/>
          </p:cNvSpPr>
          <p:nvPr/>
        </p:nvSpPr>
        <p:spPr>
          <a:xfrm>
            <a:off x="6720840" y="3154680"/>
            <a:ext cx="4389120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buNone/>
            </a:pPr>
            <a:r>
              <a:rPr sz="1800">
                <a:solidFill>
                  <a:schemeClr val="bg1"/>
                </a:solidFill>
              </a:rPr>
              <a:t>BigQuery, Pub/Sub, Cloud Storage, IAM e orçamento implantados e documentados.</a:t>
            </a:r>
          </a:p>
        </p:txBody>
      </p:sp>
    </p:spTree>
    <p:extLst>
      <p:ext uri="{BB962C8B-B14F-4D97-AF65-F5344CB8AC3E}">
        <p14:creationId xmlns:p14="http://schemas.microsoft.com/office/powerpoint/2010/main" val="289939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271970D5-E401-4989-938D-32460DDE94B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2D3EE"/>
                </a:solidFill>
              </a:defRPr>
            </a:pPr>
            <a:r>
              <a:rPr sz="1200" b="1">
                <a:solidFill>
                  <a:srgbClr val="22D3EE"/>
                </a:solidFill>
              </a:rPr>
              <a:t>ENCERRAMENTO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3E8DA41-49C7-4D78-A7A4-B9A3D585E492}"/>
              </a:ext>
            </a:extLst>
          </p:cNvPr>
          <p:cNvSpPr>
            <a:spLocks noGrp="1"/>
          </p:cNvSpPr>
          <p:nvPr/>
        </p:nvSpPr>
        <p:spPr>
          <a:xfrm>
            <a:off x="609600" y="857250"/>
            <a:ext cx="1076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F8FAFC"/>
                </a:solidFill>
              </a:defRPr>
            </a:pPr>
            <a:r>
              <a:rPr sz="2700" b="1" dirty="0">
                <a:solidFill>
                  <a:srgbClr val="F8FAFC"/>
                </a:solidFill>
              </a:rPr>
              <a:t>Dados </a:t>
            </a:r>
            <a:r>
              <a:rPr sz="2700" b="1" dirty="0" err="1">
                <a:solidFill>
                  <a:srgbClr val="F8FAFC"/>
                </a:solidFill>
              </a:rPr>
              <a:t>confiáveis</a:t>
            </a:r>
            <a:r>
              <a:rPr sz="2700" b="1" dirty="0">
                <a:solidFill>
                  <a:srgbClr val="F8FAFC"/>
                </a:solidFill>
              </a:rPr>
              <a:t> para </a:t>
            </a:r>
            <a:r>
              <a:rPr sz="2700" b="1" dirty="0" err="1">
                <a:solidFill>
                  <a:srgbClr val="F8FAFC"/>
                </a:solidFill>
              </a:rPr>
              <a:t>agir</a:t>
            </a:r>
            <a:r>
              <a:rPr sz="2700" b="1" dirty="0">
                <a:solidFill>
                  <a:srgbClr val="F8FAFC"/>
                </a:solidFill>
              </a:rPr>
              <a:t> antes que a </a:t>
            </a:r>
            <a:r>
              <a:rPr sz="2700" b="1" dirty="0" err="1">
                <a:solidFill>
                  <a:srgbClr val="F8FAFC"/>
                </a:solidFill>
              </a:rPr>
              <a:t>desigualdade</a:t>
            </a:r>
            <a:r>
              <a:rPr sz="2700" b="1" dirty="0">
                <a:solidFill>
                  <a:srgbClr val="F8FAFC"/>
                </a:solidFill>
              </a:rPr>
              <a:t> se </a:t>
            </a:r>
            <a:r>
              <a:rPr sz="2700" b="1" dirty="0" err="1">
                <a:solidFill>
                  <a:srgbClr val="F8FAFC"/>
                </a:solidFill>
              </a:rPr>
              <a:t>consolide</a:t>
            </a:r>
            <a:endParaRPr sz="2700" b="1" dirty="0">
              <a:solidFill>
                <a:srgbClr val="F8FAFC"/>
              </a:solidFill>
            </a:endParaRP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5BCB8A8E-AC62-4733-B2C0-C57AD4CE56F6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5375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AAE54DF-2209-43C8-95D8-41755943DE84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2000250" cy="857250"/>
          </a:xfrm>
          <a:prstGeom prst="roundRect">
            <a:avLst>
              <a:gd name="adj" fmla="val 13333"/>
            </a:avLst>
          </a:prstGeom>
          <a:solidFill>
            <a:srgbClr val="10233F"/>
          </a:solidFill>
          <a:ln w="9525">
            <a:solidFill>
              <a:srgbClr val="D4AF3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400" b="1">
                <a:solidFill>
                  <a:srgbClr val="D4AF37"/>
                </a:solidFill>
              </a:defRPr>
            </a:pPr>
            <a:r>
              <a:rPr sz="2400" b="1">
                <a:solidFill>
                  <a:srgbClr val="D4AF37"/>
                </a:solidFill>
              </a:rPr>
              <a:t>DADOS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1716E70-13B9-4D45-B8DA-9A7BFA8139A4}"/>
              </a:ext>
            </a:extLst>
          </p:cNvPr>
          <p:cNvSpPr>
            <a:spLocks noGrp="1"/>
          </p:cNvSpPr>
          <p:nvPr/>
        </p:nvSpPr>
        <p:spPr>
          <a:xfrm>
            <a:off x="781050" y="313372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fonte oficial integrada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4E2E936-EFC1-4DDE-AF3C-6A4860869009}"/>
              </a:ext>
            </a:extLst>
          </p:cNvPr>
          <p:cNvSpPr>
            <a:spLocks noGrp="1"/>
          </p:cNvSpPr>
          <p:nvPr/>
        </p:nvSpPr>
        <p:spPr>
          <a:xfrm>
            <a:off x="3429000" y="2190750"/>
            <a:ext cx="2000250" cy="857250"/>
          </a:xfrm>
          <a:prstGeom prst="roundRect">
            <a:avLst>
              <a:gd name="adj" fmla="val 13333"/>
            </a:avLst>
          </a:prstGeom>
          <a:solidFill>
            <a:srgbClr val="10233F"/>
          </a:solidFill>
          <a:ln w="9525">
            <a:solidFill>
              <a:srgbClr val="22D3E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400" b="1">
                <a:solidFill>
                  <a:srgbClr val="22D3EE"/>
                </a:solidFill>
              </a:defRPr>
            </a:pPr>
            <a:r>
              <a:rPr sz="2400" b="1">
                <a:solidFill>
                  <a:srgbClr val="22D3EE"/>
                </a:solidFill>
              </a:rPr>
              <a:t>QUALIDADE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D63F9EC-73FB-44E7-AA62-5B15AB309DA5}"/>
              </a:ext>
            </a:extLst>
          </p:cNvPr>
          <p:cNvSpPr>
            <a:spLocks noGrp="1"/>
          </p:cNvSpPr>
          <p:nvPr/>
        </p:nvSpPr>
        <p:spPr>
          <a:xfrm>
            <a:off x="3429000" y="313372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regras e DLQ</a:t>
            </a:r>
            <a:endParaRPr sz="1125" b="0">
              <a:solidFill>
                <a:srgbClr val="CBD5E1"/>
              </a:solidFill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980D97F-9C43-47EB-A643-F31907A84600}"/>
              </a:ext>
            </a:extLst>
          </p:cNvPr>
          <p:cNvSpPr>
            <a:spLocks noGrp="1"/>
          </p:cNvSpPr>
          <p:nvPr/>
        </p:nvSpPr>
        <p:spPr>
          <a:xfrm>
            <a:off x="6076950" y="2190750"/>
            <a:ext cx="2000250" cy="857250"/>
          </a:xfrm>
          <a:prstGeom prst="roundRect">
            <a:avLst>
              <a:gd name="adj" fmla="val 13333"/>
            </a:avLst>
          </a:prstGeom>
          <a:solidFill>
            <a:srgbClr val="10233F"/>
          </a:solidFill>
          <a:ln w="9525">
            <a:solidFill>
              <a:srgbClr val="A86B32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400" b="1">
                <a:solidFill>
                  <a:srgbClr val="A86B32"/>
                </a:solidFill>
              </a:defRPr>
            </a:pPr>
            <a:r>
              <a:rPr sz="2400" b="1">
                <a:solidFill>
                  <a:srgbClr val="A86B32"/>
                </a:solidFill>
              </a:rPr>
              <a:t>FINOPS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2738240-EC71-4BAD-942D-C486B51D9579}"/>
              </a:ext>
            </a:extLst>
          </p:cNvPr>
          <p:cNvSpPr>
            <a:spLocks noGrp="1"/>
          </p:cNvSpPr>
          <p:nvPr/>
        </p:nvSpPr>
        <p:spPr>
          <a:xfrm>
            <a:off x="6076950" y="313372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EFICIÊNCIA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094A434-93AA-4532-B056-CD6241E7CF09}"/>
              </a:ext>
            </a:extLst>
          </p:cNvPr>
          <p:cNvSpPr>
            <a:spLocks noGrp="1"/>
          </p:cNvSpPr>
          <p:nvPr/>
        </p:nvSpPr>
        <p:spPr>
          <a:xfrm>
            <a:off x="8724900" y="2190750"/>
            <a:ext cx="2000250" cy="857250"/>
          </a:xfrm>
          <a:prstGeom prst="roundRect">
            <a:avLst>
              <a:gd name="adj" fmla="val 13333"/>
            </a:avLst>
          </a:prstGeom>
          <a:solidFill>
            <a:srgbClr val="10233F"/>
          </a:solidFill>
          <a:ln w="9525">
            <a:solidFill>
              <a:srgbClr val="B9C2CC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400" b="1">
                <a:solidFill>
                  <a:srgbClr val="B9C2CC"/>
                </a:solidFill>
              </a:defRPr>
            </a:pPr>
            <a:r>
              <a:rPr sz="2400" b="1">
                <a:solidFill>
                  <a:srgbClr val="B9C2CC"/>
                </a:solidFill>
              </a:rPr>
              <a:t>IMPACTO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93F9D5B-6ABF-4FF6-B707-A96576B02C9A}"/>
              </a:ext>
            </a:extLst>
          </p:cNvPr>
          <p:cNvSpPr>
            <a:spLocks noGrp="1"/>
          </p:cNvSpPr>
          <p:nvPr/>
        </p:nvSpPr>
        <p:spPr>
          <a:xfrm>
            <a:off x="8724900" y="313372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decisão pública baseada em evidências</a:t>
            </a:r>
            <a:endParaRPr sz="1125" b="0">
              <a:solidFill>
                <a:srgbClr val="CBD5E1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A49C1E8-03F2-400C-8AB2-02854D3737A6}"/>
              </a:ext>
            </a:extLst>
          </p:cNvPr>
          <p:cNvSpPr>
            <a:spLocks noGrp="1"/>
          </p:cNvSpPr>
          <p:nvPr/>
        </p:nvSpPr>
        <p:spPr>
          <a:xfrm>
            <a:off x="1381125" y="3921533"/>
            <a:ext cx="942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0">
                <a:solidFill>
                  <a:srgbClr val="CBD5E1"/>
                </a:solidFill>
              </a:defRPr>
            </a:pPr>
            <a:r>
              <a:rPr sz="2100" b="0" dirty="0">
                <a:solidFill>
                  <a:srgbClr val="CBD5E1"/>
                </a:solidFill>
              </a:rPr>
              <a:t>A Gold </a:t>
            </a:r>
            <a:r>
              <a:rPr sz="2100" b="0" dirty="0" err="1">
                <a:solidFill>
                  <a:srgbClr val="CBD5E1"/>
                </a:solidFill>
              </a:rPr>
              <a:t>sustenta</a:t>
            </a:r>
            <a:r>
              <a:rPr sz="2100" b="0" dirty="0">
                <a:solidFill>
                  <a:srgbClr val="CBD5E1"/>
                </a:solidFill>
              </a:rPr>
              <a:t> </a:t>
            </a:r>
            <a:r>
              <a:rPr sz="2100" b="0" dirty="0" err="1">
                <a:solidFill>
                  <a:srgbClr val="CBD5E1"/>
                </a:solidFill>
              </a:rPr>
              <a:t>predição</a:t>
            </a:r>
            <a:r>
              <a:rPr sz="2100" b="0" dirty="0">
                <a:solidFill>
                  <a:srgbClr val="CBD5E1"/>
                </a:solidFill>
              </a:rPr>
              <a:t> de </a:t>
            </a:r>
            <a:r>
              <a:rPr sz="2100" b="0" dirty="0" err="1">
                <a:solidFill>
                  <a:srgbClr val="CBD5E1"/>
                </a:solidFill>
              </a:rPr>
              <a:t>risco</a:t>
            </a:r>
            <a:r>
              <a:rPr sz="2100" b="0" dirty="0">
                <a:solidFill>
                  <a:srgbClr val="CBD5E1"/>
                </a:solidFill>
              </a:rPr>
              <a:t>, </a:t>
            </a:r>
            <a:r>
              <a:rPr sz="2100" b="0" dirty="0" err="1">
                <a:solidFill>
                  <a:srgbClr val="CBD5E1"/>
                </a:solidFill>
              </a:rPr>
              <a:t>análise</a:t>
            </a:r>
            <a:r>
              <a:rPr sz="2100" b="0" dirty="0">
                <a:solidFill>
                  <a:srgbClr val="CBD5E1"/>
                </a:solidFill>
              </a:rPr>
              <a:t> de </a:t>
            </a:r>
            <a:r>
              <a:rPr sz="2100" b="0" dirty="0" err="1">
                <a:solidFill>
                  <a:srgbClr val="CBD5E1"/>
                </a:solidFill>
              </a:rPr>
              <a:t>desigualdades</a:t>
            </a:r>
            <a:r>
              <a:rPr sz="2100" b="0" dirty="0">
                <a:solidFill>
                  <a:srgbClr val="CBD5E1"/>
                </a:solidFill>
              </a:rPr>
              <a:t> e </a:t>
            </a:r>
            <a:r>
              <a:rPr sz="2100" b="0" dirty="0" err="1">
                <a:solidFill>
                  <a:srgbClr val="CBD5E1"/>
                </a:solidFill>
              </a:rPr>
              <a:t>políticas</a:t>
            </a:r>
            <a:r>
              <a:rPr sz="2100" b="0" dirty="0">
                <a:solidFill>
                  <a:srgbClr val="CBD5E1"/>
                </a:solidFill>
              </a:rPr>
              <a:t> </a:t>
            </a:r>
            <a:r>
              <a:rPr sz="2100" b="0" dirty="0" err="1">
                <a:solidFill>
                  <a:srgbClr val="CBD5E1"/>
                </a:solidFill>
              </a:rPr>
              <a:t>públicas</a:t>
            </a:r>
            <a:r>
              <a:rPr sz="2100" b="0" dirty="0">
                <a:solidFill>
                  <a:srgbClr val="CBD5E1"/>
                </a:solidFill>
              </a:rPr>
              <a:t> </a:t>
            </a:r>
            <a:r>
              <a:rPr sz="2100" b="0" dirty="0" err="1">
                <a:solidFill>
                  <a:srgbClr val="CBD5E1"/>
                </a:solidFill>
              </a:rPr>
              <a:t>baseadas</a:t>
            </a:r>
            <a:r>
              <a:rPr sz="2100" b="0" dirty="0">
                <a:solidFill>
                  <a:srgbClr val="CBD5E1"/>
                </a:solidFill>
              </a:rPr>
              <a:t> </a:t>
            </a:r>
            <a:r>
              <a:rPr sz="2100" b="0" dirty="0" err="1">
                <a:solidFill>
                  <a:srgbClr val="CBD5E1"/>
                </a:solidFill>
              </a:rPr>
              <a:t>em</a:t>
            </a:r>
            <a:r>
              <a:rPr sz="2100" b="0" dirty="0">
                <a:solidFill>
                  <a:srgbClr val="CBD5E1"/>
                </a:solidFill>
              </a:rPr>
              <a:t> dados — sempre com </a:t>
            </a:r>
            <a:r>
              <a:rPr sz="2100" b="0" dirty="0" err="1">
                <a:solidFill>
                  <a:srgbClr val="CBD5E1"/>
                </a:solidFill>
              </a:rPr>
              <a:t>supervisão</a:t>
            </a:r>
            <a:r>
              <a:rPr sz="2100" b="0" dirty="0">
                <a:solidFill>
                  <a:srgbClr val="CBD5E1"/>
                </a:solidFill>
              </a:rPr>
              <a:t> </a:t>
            </a:r>
            <a:r>
              <a:rPr sz="2100" b="0" dirty="0" err="1">
                <a:solidFill>
                  <a:srgbClr val="CBD5E1"/>
                </a:solidFill>
              </a:rPr>
              <a:t>humana</a:t>
            </a:r>
            <a:r>
              <a:rPr sz="2100" b="0" dirty="0">
                <a:solidFill>
                  <a:srgbClr val="CBD5E1"/>
                </a:solidFill>
              </a:rPr>
              <a:t>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096AC6E-F3F9-4340-A666-8FBA10A7BA8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Tech Challenge Fase 2 • Encerramento</a:t>
            </a:r>
          </a:p>
        </p:txBody>
      </p:sp>
    </p:spTree>
    <p:extLst>
      <p:ext uri="{BB962C8B-B14F-4D97-AF65-F5344CB8AC3E}">
        <p14:creationId xmlns:p14="http://schemas.microsoft.com/office/powerpoint/2010/main" val="2126659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951</Words>
  <Application>Microsoft Office PowerPoint</Application>
  <DocSecurity>0</DocSecurity>
  <PresentationFormat>Widescreen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Willian Schön Lopes</cp:lastModifiedBy>
  <cp:revision>1</cp:revision>
  <dcterms:created xsi:type="dcterms:W3CDTF">2026-08-28T17:06:11Z</dcterms:created>
  <dcterms:modified xsi:type="dcterms:W3CDTF">2026-08-28T17:08:06Z</dcterms:modified>
</cp:coreProperties>
</file>