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2bf0b453544b7" /><Relationship Type="http://schemas.openxmlformats.org/officeDocument/2006/relationships/extended-properties" Target="/docProps/app.xml" Id="R0201557cb30742ca" /><Relationship Type="http://schemas.openxmlformats.org/officeDocument/2006/relationships/officeDocument" Target="/ppt/presentation.xml" Id="R9a125902e52d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1ea3bd4a0445a2"/>
  </p:sldMasterIdLst>
  <p:notesMasterIdLst>
    <p:notesMasterId xmlns:r="http://schemas.openxmlformats.org/officeDocument/2006/relationships" r:id="R431afa6fdf97424c"/>
  </p:notesMasterIdLst>
  <p:sldIdLst>
    <p:sldId xmlns:r="http://schemas.openxmlformats.org/officeDocument/2006/relationships" id="256" r:id="Rf6e4f7fb7fb34d5d"/>
    <p:sldId xmlns:r="http://schemas.openxmlformats.org/officeDocument/2006/relationships" id="257" r:id="R6b3b928823ab46f8"/>
    <p:sldId xmlns:r="http://schemas.openxmlformats.org/officeDocument/2006/relationships" id="258" r:id="Rcb6640a3a9574a32"/>
    <p:sldId xmlns:r="http://schemas.openxmlformats.org/officeDocument/2006/relationships" id="259" r:id="R6c9d35e7e514405b"/>
    <p:sldId xmlns:r="http://schemas.openxmlformats.org/officeDocument/2006/relationships" id="260" r:id="R31b47c460b4c4aae"/>
    <p:sldId xmlns:r="http://schemas.openxmlformats.org/officeDocument/2006/relationships" id="261" r:id="R755e392724494b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bede48acf74210" /><Relationship Type="http://schemas.openxmlformats.org/officeDocument/2006/relationships/slideMaster" Target="/ppt/slideMasters/slideMaster1.xml" Id="Rdb1ea3bd4a0445a2" /><Relationship Type="http://schemas.openxmlformats.org/officeDocument/2006/relationships/notesMaster" Target="/ppt/notesMasters/notesMaster1.xml" Id="R431afa6fdf97424c" /><Relationship Type="http://schemas.openxmlformats.org/officeDocument/2006/relationships/presProps" Target="/ppt/presProps.xml" Id="R62e825be817e42f5" /><Relationship Type="http://schemas.openxmlformats.org/officeDocument/2006/relationships/tableStyles" Target="/ppt/tableStyles.xml" Id="Rb1a35512fc7d4f95" /><Relationship Type="http://schemas.openxmlformats.org/officeDocument/2006/relationships/slide" Target="/ppt/slides/slide1.xml" Id="Rf6e4f7fb7fb34d5d" /><Relationship Type="http://schemas.openxmlformats.org/officeDocument/2006/relationships/slide" Target="/ppt/slides/slide2.xml" Id="R6b3b928823ab46f8" /><Relationship Type="http://schemas.openxmlformats.org/officeDocument/2006/relationships/slide" Target="/ppt/slides/slide3.xml" Id="Rcb6640a3a9574a32" /><Relationship Type="http://schemas.openxmlformats.org/officeDocument/2006/relationships/slide" Target="/ppt/slides/slide4.xml" Id="R6c9d35e7e514405b" /><Relationship Type="http://schemas.openxmlformats.org/officeDocument/2006/relationships/slide" Target="/ppt/slides/slide5.xml" Id="R31b47c460b4c4aae" /><Relationship Type="http://schemas.openxmlformats.org/officeDocument/2006/relationships/slide" Target="/ppt/slides/slide6.xml" Id="R755e39272449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786714994c46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9a9d930514b73" /><Relationship Type="http://schemas.openxmlformats.org/officeDocument/2006/relationships/notesMaster" Target="/ppt/notesMasters/notesMaster1.xml" Id="R1de5c4166ef947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9da668a6324018" /><Relationship Type="http://schemas.openxmlformats.org/officeDocument/2006/relationships/notesMaster" Target="/ppt/notesMasters/notesMaster1.xml" Id="R235ebbc2e6ef4d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bd9b97392242d0" /><Relationship Type="http://schemas.openxmlformats.org/officeDocument/2006/relationships/notesMaster" Target="/ppt/notesMasters/notesMaster1.xml" Id="R324278cb4a2e4b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c7c938a1e94f9f" /><Relationship Type="http://schemas.openxmlformats.org/officeDocument/2006/relationships/notesMaster" Target="/ppt/notesMasters/notesMaster1.xml" Id="R6b856739096c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b283a28de24141" /><Relationship Type="http://schemas.openxmlformats.org/officeDocument/2006/relationships/notesMaster" Target="/ppt/notesMasters/notesMaster1.xml" Id="R71e4754b6ef8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e4b6160dd04f8b" /><Relationship Type="http://schemas.openxmlformats.org/officeDocument/2006/relationships/notesMaster" Target="/ppt/notesMasters/notesMaster1.xml" Id="Rf7dd9b946538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projeto cria um pipeline híbrido para acompanhar a alfabetização no Brasil. A solução usa as seis tabelas do INEP publicadas pela Base dos Dados, com resultados e metas do Brasil, estados, municípios e alunos. O objetivo é transformar esses dados em indicadores confiáveis para saber onde a meta foi atingida, onde há risco e como cada município evoluiu.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https://basedosdados.org/dataset/073a39d4-89cf-4068-b1e8-34ed0d9c0b72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foi desenhada na Google Cloud porque a fonte já está no BigQuery. O batch captura snapshots diários das seis tabelas. O streaming é simulado com eventos de alunos publicados no Pub/Sub e gravados diretamente na Bronze; mensagens inválidas seguem para uma dead-letter queue. Bronze preserva histórico, Silver padroniza e integra, e Gold entrega as visões analíticas. A mesma lógica roda localmente com DuckDB e Parquet, sem exigir conta cloud.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https://basedosdados.org/docs/access_data_packages</a:t>
            </a:r>
          </a:p>
          <a:p xmlns:a="http://schemas.openxmlformats.org/drawingml/2006/main">
            <a:r>
              <a:t>- https://registry.terraform.io/providers/hashicorp/google/latest/docs/resources/pubsub_subscription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Qualidade é uma etapa bloqueante. Validamos chaves obrigatórias, duplicidades, integridade municipal, percentuais entre zero e cem, soma dos níveis e consistência do corte de 743 pontos. O ensaio local executou trinta e cinco checks com score de cem por cento. No BigQuery, um ASSERT falha o agendamento se houver problema crítico. Para o streaming, checkpoint e deduplicação tornam o reprocessamento seguro.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artifacts/evidence/latest_quality.json</a:t>
            </a:r>
          </a:p>
          <a:p xmlns:a="http://schemas.openxmlformats.org/drawingml/2006/main">
            <a:r>
              <a:t>- Local: tests/</a:t>
            </a:r>
          </a:p>
          <a:p xmlns:a="http://schemas.openxmlformats.org/drawingml/2006/main">
            <a:r>
              <a:t>- Local: cloud/gcp/sql/quality_checks.sql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Gold possui cinco produtos. O indicador municipal combina taxa, média, participação, meta do ano, gap e status. A visão meta versus resultado abre o horizonte de 2024 a 2030, inclusive anos ainda sem avaliação. A evolução calcula variação anual por janela. Há também resumo por UF e monitoramento da amostra de eventos. Assim, uma equipe pode priorizar municípios críticos e acompanhar o efeito de ações educacionais.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(dados sintéticos): data/sample/municipio.csv</a:t>
            </a:r>
          </a:p>
          <a:p xmlns:a="http://schemas.openxmlformats.org/drawingml/2006/main">
            <a:r>
              <a:t>- Local: artifacts/evidence/latest_run.json</a:t>
            </a:r>
          </a:p>
          <a:p xmlns:a="http://schemas.openxmlformats.org/drawingml/2006/main">
            <a:r>
              <a:t>- Local: artifacts/evidence/gold_indicador_municipio.csv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desenho usa serviços serverless, tabelas particionadas e clusterizadas, Parquet compactado e lifecycle. No cenário de referência, o custo incremental fica abaixo de um dólar por mês, com budget de cem reais e alertas em cinquenta, oitenta e cem por cento. Monitoring acompanha backlog, erros, qualidade e custo. Na segurança, não há credenciais no repositório, o acesso é por service account e a Gold não expõe identificadores de alunos.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https://cloud.google.com/bigquery/pricing</a:t>
            </a:r>
          </a:p>
          <a:p xmlns:a="http://schemas.openxmlformats.org/drawingml/2006/main">
            <a:r>
              <a:t>- https://cloud.google.com/pubsub/pricing</a:t>
            </a:r>
          </a:p>
          <a:p xmlns:a="http://schemas.openxmlformats.org/drawingml/2006/main">
            <a:r>
              <a:t>- https://cloud.google.com/storage/pricing</a:t>
            </a:r>
          </a:p>
          <a:p xmlns:a="http://schemas.openxmlformats.org/drawingml/2006/main">
            <a:r>
              <a:t>- Local: docs/finops.md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pipeline foi executado ponta a ponta: noventa e seis registros de alunos no batch, vinte e quatro eventos, doze indicadores municipais e quarenta e duas combinações de metas. Seis testes automatizados passaram. A implantação cloud está pronta em Terraform, mas não foi aplicada sem credenciais para evitar cobrança não autorizada. Os próximos passos são aplicar em um projeto GCP, conectar um dashboard e evoluir para Dataflow caso o streaming exija janelas complexas.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artifacts/evidence/latest_run.json</a:t>
            </a:r>
          </a:p>
          <a:p xmlns:a="http://schemas.openxmlformats.org/drawingml/2006/main">
            <a:r>
              <a:t>- Local: README.md</a:t>
            </a:r>
          </a:p>
          <a:p xmlns:a="http://schemas.openxmlformats.org/drawingml/2006/main">
            <a:r>
              <a:t>- Local: docs/evaluation_matrix.md</a:t>
            </a:r>
          </a:p>
          <a:p xmlns:a="http://schemas.openxmlformats.org/drawingml/2006/main">
            <a:r>
              <a:t>- Local: docs/deployment_checklist.md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b7ba1babb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15e904702424c" /><Relationship Type="http://schemas.openxmlformats.org/officeDocument/2006/relationships/slideLayout" Target="/ppt/slideLayouts/slideLayout1.xml" Id="R1bfe61f70fb449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fe61f70fb449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6cc2d52944d9a" /><Relationship Type="http://schemas.openxmlformats.org/officeDocument/2006/relationships/notesSlide" Target="/ppt/notesSlides/notesSlide1.xml" Id="Rc202fd531d49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64fa2c3c645db" /><Relationship Type="http://schemas.openxmlformats.org/officeDocument/2006/relationships/notesSlide" Target="/ppt/notesSlides/notesSlide2.xml" Id="Rad880c175b9b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33fff0348425f" /><Relationship Type="http://schemas.openxmlformats.org/officeDocument/2006/relationships/notesSlide" Target="/ppt/notesSlides/notesSlide3.xml" Id="Ree88d6237aac49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1b79397994985" /><Relationship Type="http://schemas.openxmlformats.org/officeDocument/2006/relationships/chart" Target="/ppt/slides/charts/chart1.xml" Id="R209b3aa3db324e3f" /><Relationship Type="http://schemas.openxmlformats.org/officeDocument/2006/relationships/notesSlide" Target="/ppt/notesSlides/notesSlide4.xml" Id="R71fabac5198342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5f71991c4f31" /><Relationship Type="http://schemas.openxmlformats.org/officeDocument/2006/relationships/notesSlide" Target="/ppt/notesSlides/notesSlide5.xml" Id="R7c4b7f8244214c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3e21b79ec4ef2" /><Relationship Type="http://schemas.openxmlformats.org/officeDocument/2006/relationships/notesSlide" Target="/ppt/notesSlides/notesSlide6.xml" Id="R96ce0a4e4b15423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2023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6"/>
              <c:pt idx="0">
                <c:v>Rio Branco</c:v>
              </c:pt>
              <c:pt idx="1">
                <c:v>Cruzeiro</c:v>
              </c:pt>
              <c:pt idx="2">
                <c:v>São Paulo</c:v>
              </c:pt>
              <c:pt idx="3">
                <c:v>Campinas</c:v>
              </c:pt>
              <c:pt idx="4">
                <c:v>Curitiba</c:v>
              </c:pt>
              <c:pt idx="5">
                <c:v>Londrina</c:v>
              </c:pt>
            </c:strLit>
          </c:cat>
          <c:val>
            <c:numLit>
              <c:formatCode>0'%'</c:formatCode>
              <c:ptCount val="6"/>
              <c:pt idx="0">
                <c:v>52</c:v>
              </c:pt>
              <c:pt idx="1">
                <c:v>49</c:v>
              </c:pt>
              <c:pt idx="2">
                <c:v>62</c:v>
              </c:pt>
              <c:pt idx="3">
                <c:v>65</c:v>
              </c:pt>
              <c:pt idx="4">
                <c:v>64</c:v>
              </c:pt>
              <c:pt idx="5">
                <c:v>61</c:v>
              </c:pt>
            </c:numLit>
          </c:val>
        </c:ser>
        <c:ser>
          <c:idx val="1"/>
          <c:order val="1"/>
          <c:tx>
            <c:v>2024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6DCBF4"/>
              </a:solidFill>
            </c:spPr>
          </c:marker>
          <c:cat>
            <c:strLit>
              <c:ptCount val="6"/>
              <c:pt idx="0">
                <c:v>Rio Branco</c:v>
              </c:pt>
              <c:pt idx="1">
                <c:v>Cruzeiro</c:v>
              </c:pt>
              <c:pt idx="2">
                <c:v>São Paulo</c:v>
              </c:pt>
              <c:pt idx="3">
                <c:v>Campinas</c:v>
              </c:pt>
              <c:pt idx="4">
                <c:v>Curitiba</c:v>
              </c:pt>
              <c:pt idx="5">
                <c:v>Londrina</c:v>
              </c:pt>
            </c:strLit>
          </c:cat>
          <c:val>
            <c:numLit>
              <c:formatCode>0'%'</c:formatCode>
              <c:ptCount val="6"/>
              <c:pt idx="0">
                <c:v>57</c:v>
              </c:pt>
              <c:pt idx="1">
                <c:v>54</c:v>
              </c:pt>
              <c:pt idx="2">
                <c:v>67</c:v>
              </c:pt>
              <c:pt idx="3">
                <c:v>70</c:v>
              </c:pt>
              <c:pt idx="4">
                <c:v>69</c:v>
              </c:pt>
              <c:pt idx="5">
                <c:v>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'%'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55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4EDAAA4-9238-4722-8CD0-2D4BFB2A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 CHALLENGE · FASE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30807D-A201-4F83-BA9B-7821F84A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Alfabetização:</a:t>
            </a:r>
          </a:p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dados que chegam à decisão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2FBF03-6A60-433B-B2C9-6239951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Pipeline híbrido batch + streaming com qualidade, FinOps e arquitetura Medallion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A7F974DE-2576-40B9-8D3B-F762AE7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Nome / RM · Pós-Tech AI Scientist</a:t>
            </a:r>
          </a:p>
        </p:txBody>
      </p:sp>
      <p:sp>
        <p:nvSpPr>
          <p:cNvPr id="5" name="cover-visual-field">
            <a:extLst xmlns:a="http://schemas.openxmlformats.org/drawingml/2006/main">
              <a:ext uri="{FF2B5EF4-FFF2-40B4-BE49-F238E27FC236}">
                <a16:creationId xmlns:a16="http://schemas.microsoft.com/office/drawing/2014/main" id="{6FF9A62D-8497-49F5-AC25-0E9F8080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00700" cy="5619750"/>
          </a:xfrm>
          <a:prstGeom xmlns:a="http://schemas.openxmlformats.org/drawingml/2006/main" prst="roundRect">
            <a:avLst>
              <a:gd name="adj" fmla="val 340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line-source-bronze">
            <a:extLst xmlns:a="http://schemas.openxmlformats.org/drawingml/2006/main">
              <a:ext uri="{FF2B5EF4-FFF2-40B4-BE49-F238E27FC236}">
                <a16:creationId xmlns:a16="http://schemas.microsoft.com/office/drawing/2014/main" id="{103D28F0-125C-465F-BE30-382B9FBF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cover-line-stream-bronze-vertical">
            <a:extLst xmlns:a="http://schemas.openxmlformats.org/drawingml/2006/main">
              <a:ext uri="{FF2B5EF4-FFF2-40B4-BE49-F238E27FC236}">
                <a16:creationId xmlns:a16="http://schemas.microsoft.com/office/drawing/2014/main" id="{40F07B93-7BC8-459E-931E-2B4E120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676400"/>
            <a:ext cx="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cover-line-stream-bronze-horizontal">
            <a:extLst xmlns:a="http://schemas.openxmlformats.org/drawingml/2006/main">
              <a:ext uri="{FF2B5EF4-FFF2-40B4-BE49-F238E27FC236}">
                <a16:creationId xmlns:a16="http://schemas.microsoft.com/office/drawing/2014/main" id="{F2F80250-8C9D-421B-BB31-56C4BAF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90775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cover-line-bronze-silver">
            <a:extLst xmlns:a="http://schemas.openxmlformats.org/drawingml/2006/main">
              <a:ext uri="{FF2B5EF4-FFF2-40B4-BE49-F238E27FC236}">
                <a16:creationId xmlns:a16="http://schemas.microsoft.com/office/drawing/2014/main" id="{7B1D4826-B92F-476E-9B79-C6AB24C6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099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cover-line-silver-gold">
            <a:extLst xmlns:a="http://schemas.openxmlformats.org/drawingml/2006/main">
              <a:ext uri="{FF2B5EF4-FFF2-40B4-BE49-F238E27FC236}">
                <a16:creationId xmlns:a16="http://schemas.microsoft.com/office/drawing/2014/main" id="{25BCFDD6-D637-4FEA-AE65-B021B5F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cover-source-batch">
            <a:extLst xmlns:a="http://schemas.openxmlformats.org/drawingml/2006/main">
              <a:ext uri="{FF2B5EF4-FFF2-40B4-BE49-F238E27FC236}">
                <a16:creationId xmlns:a16="http://schemas.microsoft.com/office/drawing/2014/main" id="{C6C9C8AC-7508-4D1E-84A1-2F5CEE96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71550"/>
            <a:ext cx="1219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over-source-batch-text">
            <a:extLst xmlns:a="http://schemas.openxmlformats.org/drawingml/2006/main">
              <a:ext uri="{FF2B5EF4-FFF2-40B4-BE49-F238E27FC236}">
                <a16:creationId xmlns:a16="http://schemas.microsoft.com/office/drawing/2014/main" id="{C306B632-D774-49FF-9252-B6C30F1A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2395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 tabelas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13" name="cover-source-stream">
            <a:extLst xmlns:a="http://schemas.openxmlformats.org/drawingml/2006/main">
              <a:ext uri="{FF2B5EF4-FFF2-40B4-BE49-F238E27FC236}">
                <a16:creationId xmlns:a16="http://schemas.microsoft.com/office/drawing/2014/main" id="{EFAC0BA9-AECE-4094-9B39-5A63162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971550"/>
            <a:ext cx="1219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ver-source-stream-text">
            <a:extLst xmlns:a="http://schemas.openxmlformats.org/drawingml/2006/main">
              <a:ext uri="{FF2B5EF4-FFF2-40B4-BE49-F238E27FC236}">
                <a16:creationId xmlns:a16="http://schemas.microsoft.com/office/drawing/2014/main" id="{71293B82-9E97-477D-8333-4676B3E0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123950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Eventos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Pub/Sub</a:t>
            </a:r>
          </a:p>
        </p:txBody>
      </p:sp>
      <p:sp>
        <p:nvSpPr>
          <p:cNvPr id="15" name="cover-bronze">
            <a:extLst xmlns:a="http://schemas.openxmlformats.org/drawingml/2006/main">
              <a:ext uri="{FF2B5EF4-FFF2-40B4-BE49-F238E27FC236}">
                <a16:creationId xmlns:a16="http://schemas.microsoft.com/office/drawing/2014/main" id="{B9DFCD97-A0C6-4E45-B015-AF0692E5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D4C8"/>
          </a:solidFill>
          <a:ln xmlns:a="http://schemas.openxmlformats.org/drawingml/2006/main" w="9525">
            <a:solidFill>
              <a:srgbClr val="A66B3F"/>
            </a:solidFill>
            <a:prstDash val="solid"/>
          </a:ln>
        </p:spPr>
      </p:sp>
      <p:sp>
        <p:nvSpPr>
          <p:cNvPr id="16" name="cover-bronze-text">
            <a:extLst xmlns:a="http://schemas.openxmlformats.org/drawingml/2006/main">
              <a:ext uri="{FF2B5EF4-FFF2-40B4-BE49-F238E27FC236}">
                <a16:creationId xmlns:a16="http://schemas.microsoft.com/office/drawing/2014/main" id="{9EA0D279-A4F5-4ED2-AA5C-0C2F7BB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BRONZE · histórico</a:t>
            </a:r>
          </a:p>
        </p:txBody>
      </p:sp>
      <p:sp>
        <p:nvSpPr>
          <p:cNvPr id="17" name="cover-silver">
            <a:extLst xmlns:a="http://schemas.openxmlformats.org/drawingml/2006/main">
              <a:ext uri="{FF2B5EF4-FFF2-40B4-BE49-F238E27FC236}">
                <a16:creationId xmlns:a16="http://schemas.microsoft.com/office/drawing/2014/main" id="{6B346C0A-62D0-40D1-8134-ABD59EF1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2E5E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over-silver-text">
            <a:extLst xmlns:a="http://schemas.openxmlformats.org/drawingml/2006/main">
              <a:ext uri="{FF2B5EF4-FFF2-40B4-BE49-F238E27FC236}">
                <a16:creationId xmlns:a16="http://schemas.microsoft.com/office/drawing/2014/main" id="{3215AFD4-DBE7-4006-BFDF-09CDACD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SILVER · confiança</a:t>
            </a:r>
          </a:p>
        </p:txBody>
      </p:sp>
      <p:sp>
        <p:nvSpPr>
          <p:cNvPr id="19" name="cover-gold">
            <a:extLst xmlns:a="http://schemas.openxmlformats.org/drawingml/2006/main">
              <a:ext uri="{FF2B5EF4-FFF2-40B4-BE49-F238E27FC236}">
                <a16:creationId xmlns:a16="http://schemas.microsoft.com/office/drawing/2014/main" id="{FEC46AD2-82F4-4F7F-832B-027556C6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C49A00"/>
            </a:solidFill>
            <a:prstDash val="solid"/>
          </a:ln>
        </p:spPr>
      </p:sp>
      <p:sp>
        <p:nvSpPr>
          <p:cNvPr id="20" name="cover-gold-text">
            <a:extLst xmlns:a="http://schemas.openxmlformats.org/drawingml/2006/main">
              <a:ext uri="{FF2B5EF4-FFF2-40B4-BE49-F238E27FC236}">
                <a16:creationId xmlns:a16="http://schemas.microsoft.com/office/drawing/2014/main" id="{2E697659-49E7-486B-B62C-E2DFD331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 · decisão</a:t>
            </a:r>
          </a:p>
        </p:txBody>
      </p:sp>
    </p:spTree>
    <p:extLst>
      <p:ext uri="{BB962C8B-B14F-4D97-AF65-F5344CB8AC3E}">
        <p14:creationId xmlns:p14="http://schemas.microsoft.com/office/powerpoint/2010/main" val="1831301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3126146-D134-4ABC-8A6B-C09A4A2F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Uma arquitetura, dois ritmos de dados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2C41A3F3-F3FA-467A-8A59-A15E6531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693C7DD3-AA30-4A09-BA75-E4A6B17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Batch preserva o retrato oficial; streaming antecipa sinais operacionais.</a:t>
            </a:r>
          </a:p>
        </p:txBody>
      </p:sp>
      <p:sp>
        <p:nvSpPr>
          <p:cNvPr id="4" name="arch-batch-bronze">
            <a:extLst xmlns:a="http://schemas.openxmlformats.org/drawingml/2006/main">
              <a:ext uri="{FF2B5EF4-FFF2-40B4-BE49-F238E27FC236}">
                <a16:creationId xmlns:a16="http://schemas.microsoft.com/office/drawing/2014/main" id="{7A5CFB52-2356-4D31-BF88-07F75997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62175"/>
            <a:ext cx="8572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arch-stream-bronze-vertical">
            <a:extLst xmlns:a="http://schemas.openxmlformats.org/drawingml/2006/main">
              <a:ext uri="{FF2B5EF4-FFF2-40B4-BE49-F238E27FC236}">
                <a16:creationId xmlns:a16="http://schemas.microsoft.com/office/drawing/2014/main" id="{745A0059-C154-4DBB-AA08-B674607D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290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arch-stream-bronze-horizontal">
            <a:extLst xmlns:a="http://schemas.openxmlformats.org/drawingml/2006/main">
              <a:ext uri="{FF2B5EF4-FFF2-40B4-BE49-F238E27FC236}">
                <a16:creationId xmlns:a16="http://schemas.microsoft.com/office/drawing/2014/main" id="{A0D51FE0-CD45-4C5B-99AC-AADF47F0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290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arch-bronze-silver">
            <a:extLst xmlns:a="http://schemas.openxmlformats.org/drawingml/2006/main">
              <a:ext uri="{FF2B5EF4-FFF2-40B4-BE49-F238E27FC236}">
                <a16:creationId xmlns:a16="http://schemas.microsoft.com/office/drawing/2014/main" id="{5EC575E7-F273-45E0-B284-CCB9B32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95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arch-silver-gold">
            <a:extLst xmlns:a="http://schemas.openxmlformats.org/drawingml/2006/main">
              <a:ext uri="{FF2B5EF4-FFF2-40B4-BE49-F238E27FC236}">
                <a16:creationId xmlns:a16="http://schemas.microsoft.com/office/drawing/2014/main" id="{736C3C6E-493E-417F-AAC5-DA67D7D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95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arch-gold-consume-vertical">
            <a:extLst xmlns:a="http://schemas.openxmlformats.org/drawingml/2006/main">
              <a:ext uri="{FF2B5EF4-FFF2-40B4-BE49-F238E27FC236}">
                <a16:creationId xmlns:a16="http://schemas.microsoft.com/office/drawing/2014/main" id="{7DC17E7A-7E69-4632-BD27-2A972E1B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arch-gold-consume-horizontal">
            <a:extLst xmlns:a="http://schemas.openxmlformats.org/drawingml/2006/main">
              <a:ext uri="{FF2B5EF4-FFF2-40B4-BE49-F238E27FC236}">
                <a16:creationId xmlns:a16="http://schemas.microsoft.com/office/drawing/2014/main" id="{2CF73C8C-D54B-4B43-B9C7-A5B0269B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arch-gold-monitor">
            <a:extLst xmlns:a="http://schemas.openxmlformats.org/drawingml/2006/main">
              <a:ext uri="{FF2B5EF4-FFF2-40B4-BE49-F238E27FC236}">
                <a16:creationId xmlns:a16="http://schemas.microsoft.com/office/drawing/2014/main" id="{4EF5B126-9879-43CC-9A85-64400481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95650"/>
            <a:ext cx="78105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arch-source-batch">
            <a:extLst xmlns:a="http://schemas.openxmlformats.org/drawingml/2006/main">
              <a:ext uri="{FF2B5EF4-FFF2-40B4-BE49-F238E27FC236}">
                <a16:creationId xmlns:a16="http://schemas.microsoft.com/office/drawing/2014/main" id="{9564E018-E307-45FF-BF3F-9D672EB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7621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-source-batch-title">
            <a:extLst xmlns:a="http://schemas.openxmlformats.org/drawingml/2006/main">
              <a:ext uri="{FF2B5EF4-FFF2-40B4-BE49-F238E27FC236}">
                <a16:creationId xmlns:a16="http://schemas.microsoft.com/office/drawing/2014/main" id="{8DCB994B-5930-43C2-A254-FFD7030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5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 dos Dados</a:t>
            </a:r>
          </a:p>
        </p:txBody>
      </p:sp>
      <p:sp>
        <p:nvSpPr>
          <p:cNvPr id="14" name="arch-source-batch-body">
            <a:extLst xmlns:a="http://schemas.openxmlformats.org/drawingml/2006/main">
              <a:ext uri="{FF2B5EF4-FFF2-40B4-BE49-F238E27FC236}">
                <a16:creationId xmlns:a16="http://schemas.microsoft.com/office/drawing/2014/main" id="{FB4CFC41-1E1C-4C5C-8059-13B9131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6 tabelas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BigQuery</a:t>
            </a:r>
          </a:p>
        </p:txBody>
      </p:sp>
      <p:sp>
        <p:nvSpPr>
          <p:cNvPr id="15" name="arch-source-stream">
            <a:extLst xmlns:a="http://schemas.openxmlformats.org/drawingml/2006/main">
              <a:ext uri="{FF2B5EF4-FFF2-40B4-BE49-F238E27FC236}">
                <a16:creationId xmlns:a16="http://schemas.microsoft.com/office/drawing/2014/main" id="{52591226-00B4-4A67-A479-42E4200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7621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rch-source-stream-title">
            <a:extLst xmlns:a="http://schemas.openxmlformats.org/drawingml/2006/main">
              <a:ext uri="{FF2B5EF4-FFF2-40B4-BE49-F238E27FC236}">
                <a16:creationId xmlns:a16="http://schemas.microsoft.com/office/drawing/2014/main" id="{9B550AB9-5428-49BC-AB4E-ACD466F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Pub/Sub</a:t>
            </a:r>
          </a:p>
        </p:txBody>
      </p:sp>
      <p:sp>
        <p:nvSpPr>
          <p:cNvPr id="17" name="arch-source-stream-body">
            <a:extLst xmlns:a="http://schemas.openxmlformats.org/drawingml/2006/main">
              <a:ext uri="{FF2B5EF4-FFF2-40B4-BE49-F238E27FC236}">
                <a16:creationId xmlns:a16="http://schemas.microsoft.com/office/drawing/2014/main" id="{E9DEB264-BA7E-471F-820C-29B2E5E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eventos + DLQ</a:t>
            </a:r>
          </a:p>
        </p:txBody>
      </p:sp>
      <p:sp>
        <p:nvSpPr>
          <p:cNvPr id="18" name="arch-bronze">
            <a:extLst xmlns:a="http://schemas.openxmlformats.org/drawingml/2006/main">
              <a:ext uri="{FF2B5EF4-FFF2-40B4-BE49-F238E27FC236}">
                <a16:creationId xmlns:a16="http://schemas.microsoft.com/office/drawing/2014/main" id="{464ABF46-CAC5-4F25-B413-4D1A050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81300"/>
            <a:ext cx="1524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D4C8"/>
          </a:solidFill>
          <a:ln xmlns:a="http://schemas.openxmlformats.org/drawingml/2006/main" w="9525">
            <a:solidFill>
              <a:srgbClr val="A66B3F"/>
            </a:solidFill>
            <a:prstDash val="solid"/>
          </a:ln>
        </p:spPr>
      </p:sp>
      <p:sp>
        <p:nvSpPr>
          <p:cNvPr id="19" name="arch-bronze-title">
            <a:extLst xmlns:a="http://schemas.openxmlformats.org/drawingml/2006/main">
              <a:ext uri="{FF2B5EF4-FFF2-40B4-BE49-F238E27FC236}">
                <a16:creationId xmlns:a16="http://schemas.microsoft.com/office/drawing/2014/main" id="{01AE8951-EC8F-4588-9147-E235C884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0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20" name="arch-bronze-body">
            <a:extLst xmlns:a="http://schemas.openxmlformats.org/drawingml/2006/main">
              <a:ext uri="{FF2B5EF4-FFF2-40B4-BE49-F238E27FC236}">
                <a16:creationId xmlns:a16="http://schemas.microsoft.com/office/drawing/2014/main" id="{1AB50FE6-E9FE-403D-8BAC-892CE12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+ histórico</a:t>
            </a:r>
          </a:p>
        </p:txBody>
      </p:sp>
      <p:sp>
        <p:nvSpPr>
          <p:cNvPr id="21" name="arch-silver">
            <a:extLst xmlns:a="http://schemas.openxmlformats.org/drawingml/2006/main">
              <a:ext uri="{FF2B5EF4-FFF2-40B4-BE49-F238E27FC236}">
                <a16:creationId xmlns:a16="http://schemas.microsoft.com/office/drawing/2014/main" id="{E2E69818-F826-4B04-AB74-AD64E825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81300"/>
            <a:ext cx="1524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E5E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rch-silver-title">
            <a:extLst xmlns:a="http://schemas.openxmlformats.org/drawingml/2006/main">
              <a:ext uri="{FF2B5EF4-FFF2-40B4-BE49-F238E27FC236}">
                <a16:creationId xmlns:a16="http://schemas.microsoft.com/office/drawing/2014/main" id="{0B0DACD6-BA60-4A87-A105-B2D263E3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0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23" name="arch-silver-body">
            <a:extLst xmlns:a="http://schemas.openxmlformats.org/drawingml/2006/main">
              <a:ext uri="{FF2B5EF4-FFF2-40B4-BE49-F238E27FC236}">
                <a16:creationId xmlns:a16="http://schemas.microsoft.com/office/drawing/2014/main" id="{14114B05-6E44-4C6D-9C14-F29F562C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71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3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tipos + chaves + DQ</a:t>
            </a:r>
          </a:p>
        </p:txBody>
      </p:sp>
      <p:sp>
        <p:nvSpPr>
          <p:cNvPr id="24" name="arch-gold">
            <a:extLst xmlns:a="http://schemas.openxmlformats.org/drawingml/2006/main">
              <a:ext uri="{FF2B5EF4-FFF2-40B4-BE49-F238E27FC236}">
                <a16:creationId xmlns:a16="http://schemas.microsoft.com/office/drawing/2014/main" id="{A822B524-1324-4023-B7B3-5CE05D89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1524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B8"/>
          </a:solidFill>
          <a:ln xmlns:a="http://schemas.openxmlformats.org/drawingml/2006/main" w="9525">
            <a:solidFill>
              <a:srgbClr val="C49A00"/>
            </a:solidFill>
            <a:prstDash val="solid"/>
          </a:ln>
        </p:spPr>
      </p:sp>
      <p:sp>
        <p:nvSpPr>
          <p:cNvPr id="25" name="arch-gold-title">
            <a:extLst xmlns:a="http://schemas.openxmlformats.org/drawingml/2006/main">
              <a:ext uri="{FF2B5EF4-FFF2-40B4-BE49-F238E27FC236}">
                <a16:creationId xmlns:a16="http://schemas.microsoft.com/office/drawing/2014/main" id="{43304CF8-EA50-419D-BAEE-6BE76C28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03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26" name="arch-gold-body">
            <a:extLst xmlns:a="http://schemas.openxmlformats.org/drawingml/2006/main">
              <a:ext uri="{FF2B5EF4-FFF2-40B4-BE49-F238E27FC236}">
                <a16:creationId xmlns:a16="http://schemas.microsoft.com/office/drawing/2014/main" id="{D9D96CD6-AA4A-407C-BB21-DF5BDAFA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metas + evolução</a:t>
            </a:r>
          </a:p>
        </p:txBody>
      </p:sp>
      <p:sp>
        <p:nvSpPr>
          <p:cNvPr id="27" name="arch-consume">
            <a:extLst xmlns:a="http://schemas.openxmlformats.org/drawingml/2006/main">
              <a:ext uri="{FF2B5EF4-FFF2-40B4-BE49-F238E27FC236}">
                <a16:creationId xmlns:a16="http://schemas.microsoft.com/office/drawing/2014/main" id="{FB6F9185-723D-488D-8AB8-8A0711B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619250"/>
            <a:ext cx="1428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arch-consume-title">
            <a:extLst xmlns:a="http://schemas.openxmlformats.org/drawingml/2006/main">
              <a:ext uri="{FF2B5EF4-FFF2-40B4-BE49-F238E27FC236}">
                <a16:creationId xmlns:a16="http://schemas.microsoft.com/office/drawing/2014/main" id="{59FDE381-A06F-4A60-AD51-B9ED941B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573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  <p:sp>
        <p:nvSpPr>
          <p:cNvPr id="29" name="arch-consume-body">
            <a:extLst xmlns:a="http://schemas.openxmlformats.org/drawingml/2006/main">
              <a:ext uri="{FF2B5EF4-FFF2-40B4-BE49-F238E27FC236}">
                <a16:creationId xmlns:a16="http://schemas.microsoft.com/office/drawing/2014/main" id="{9EF27FF6-B8E1-4381-8A50-11141426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764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SQL · BI · Parquet</a:t>
            </a:r>
          </a:p>
        </p:txBody>
      </p:sp>
      <p:sp>
        <p:nvSpPr>
          <p:cNvPr id="30" name="arch-monitor">
            <a:extLst xmlns:a="http://schemas.openxmlformats.org/drawingml/2006/main">
              <a:ext uri="{FF2B5EF4-FFF2-40B4-BE49-F238E27FC236}">
                <a16:creationId xmlns:a16="http://schemas.microsoft.com/office/drawing/2014/main" id="{73A5AC88-72D7-44AD-9480-A9CAFFE9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14750"/>
            <a:ext cx="14287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arch-monitor-title">
            <a:extLst xmlns:a="http://schemas.openxmlformats.org/drawingml/2006/main">
              <a:ext uri="{FF2B5EF4-FFF2-40B4-BE49-F238E27FC236}">
                <a16:creationId xmlns:a16="http://schemas.microsoft.com/office/drawing/2014/main" id="{E3FEBD3A-9C24-47A8-85F3-6589847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528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Controle</a:t>
            </a:r>
          </a:p>
        </p:txBody>
      </p:sp>
      <p:sp>
        <p:nvSpPr>
          <p:cNvPr id="32" name="arch-monitor-body">
            <a:extLst xmlns:a="http://schemas.openxmlformats.org/drawingml/2006/main">
              <a:ext uri="{FF2B5EF4-FFF2-40B4-BE49-F238E27FC236}">
                <a16:creationId xmlns:a16="http://schemas.microsoft.com/office/drawing/2014/main" id="{B4E27F0E-D597-44F3-B134-9DBEA758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3719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28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SLO · custo · alertas</a:t>
            </a:r>
          </a:p>
        </p:txBody>
      </p:sp>
      <p:sp>
        <p:nvSpPr>
          <p:cNvPr id="33" name="architecture-local">
            <a:extLst xmlns:a="http://schemas.openxmlformats.org/drawingml/2006/main">
              <a:ext uri="{FF2B5EF4-FFF2-40B4-BE49-F238E27FC236}">
                <a16:creationId xmlns:a16="http://schemas.microsoft.com/office/drawing/2014/main" id="{EDE7EB4F-57B9-4ACB-8B11-695F4814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Reprodução local: DuckDB + Parquet ZSTD · Cloud: BigQuery + Pub/Sub + GCS</a:t>
            </a:r>
          </a:p>
        </p:txBody>
      </p:sp>
    </p:spTree>
    <p:extLst>
      <p:ext uri="{BB962C8B-B14F-4D97-AF65-F5344CB8AC3E}">
        <p14:creationId xmlns:p14="http://schemas.microsoft.com/office/powerpoint/2010/main" val="267624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707AF3B-2571-4A54-807B-1F84654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Qualidade bloqueia a propagação do erro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523D6D9-8FD8-49C7-9635-D31EBAE0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quality-lead">
            <a:extLst xmlns:a="http://schemas.openxmlformats.org/drawingml/2006/main">
              <a:ext uri="{FF2B5EF4-FFF2-40B4-BE49-F238E27FC236}">
                <a16:creationId xmlns:a16="http://schemas.microsoft.com/office/drawing/2014/main" id="{B564EF2D-25DA-4344-A7D3-77F218E2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Chave, faixa, referência e consistência são testadas antes do consumo analítico.</a:t>
            </a:r>
          </a:p>
        </p:txBody>
      </p:sp>
      <p:sp>
        <p:nvSpPr>
          <p:cNvPr id="4" name="quality-panel-0">
            <a:extLst xmlns:a="http://schemas.openxmlformats.org/drawingml/2006/main">
              <a:ext uri="{FF2B5EF4-FFF2-40B4-BE49-F238E27FC236}">
                <a16:creationId xmlns:a16="http://schemas.microsoft.com/office/drawing/2014/main" id="{868ED6C6-B9C2-4E2D-B190-EE1FFEC6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quality-stat-0">
            <a:extLst xmlns:a="http://schemas.openxmlformats.org/drawingml/2006/main">
              <a:ext uri="{FF2B5EF4-FFF2-40B4-BE49-F238E27FC236}">
                <a16:creationId xmlns:a16="http://schemas.microsoft.com/office/drawing/2014/main" id="{9A0A5634-3815-49A4-89AC-A49F9A1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990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6" name="quality-body-0">
            <a:extLst xmlns:a="http://schemas.openxmlformats.org/drawingml/2006/main">
              <a:ext uri="{FF2B5EF4-FFF2-40B4-BE49-F238E27FC236}">
                <a16:creationId xmlns:a16="http://schemas.microsoft.com/office/drawing/2014/main" id="{32116524-9F29-4A74-8D99-1BBC517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score de qualidade</a:t>
            </a:r>
          </a:p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 ensaio local</a:t>
            </a:r>
          </a:p>
        </p:txBody>
      </p:sp>
      <p:sp>
        <p:nvSpPr>
          <p:cNvPr id="7" name="quality-panel-1">
            <a:extLst xmlns:a="http://schemas.openxmlformats.org/drawingml/2006/main">
              <a:ext uri="{FF2B5EF4-FFF2-40B4-BE49-F238E27FC236}">
                <a16:creationId xmlns:a16="http://schemas.microsoft.com/office/drawing/2014/main" id="{744892F7-D42F-4DA3-B9BB-1BAD957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ality-stat-1">
            <a:extLst xmlns:a="http://schemas.openxmlformats.org/drawingml/2006/main">
              <a:ext uri="{FF2B5EF4-FFF2-40B4-BE49-F238E27FC236}">
                <a16:creationId xmlns:a16="http://schemas.microsoft.com/office/drawing/2014/main" id="{76F7BC5E-9A7E-47BA-AD67-35FD8DF4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9" name="quality-body-1">
            <a:extLst xmlns:a="http://schemas.openxmlformats.org/drawingml/2006/main">
              <a:ext uri="{FF2B5EF4-FFF2-40B4-BE49-F238E27FC236}">
                <a16:creationId xmlns:a16="http://schemas.microsoft.com/office/drawing/2014/main" id="{3813AB46-806E-435B-B55D-2CEBE386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577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checks executados</a:t>
            </a:r>
          </a:p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sem falha crítica</a:t>
            </a:r>
          </a:p>
        </p:txBody>
      </p:sp>
      <p:sp>
        <p:nvSpPr>
          <p:cNvPr id="10" name="quality-panel-2">
            <a:extLst xmlns:a="http://schemas.openxmlformats.org/drawingml/2006/main">
              <a:ext uri="{FF2B5EF4-FFF2-40B4-BE49-F238E27FC236}">
                <a16:creationId xmlns:a16="http://schemas.microsoft.com/office/drawing/2014/main" id="{79040941-B474-4250-BFEA-192A26AA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ality-stat-2">
            <a:extLst xmlns:a="http://schemas.openxmlformats.org/drawingml/2006/main">
              <a:ext uri="{FF2B5EF4-FFF2-40B4-BE49-F238E27FC236}">
                <a16:creationId xmlns:a16="http://schemas.microsoft.com/office/drawing/2014/main" id="{13296232-CFC4-4342-BFC3-76BED1D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990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quality-body-2">
            <a:extLst xmlns:a="http://schemas.openxmlformats.org/drawingml/2006/main">
              <a:ext uri="{FF2B5EF4-FFF2-40B4-BE49-F238E27FC236}">
                <a16:creationId xmlns:a16="http://schemas.microsoft.com/office/drawing/2014/main" id="{BD0E7C9A-4913-4AEB-985D-9D6360B9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876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testes automatizados</a:t>
            </a:r>
          </a:p>
          <a:p xmlns:a="http://schemas.openxmlformats.org/drawingml/2006/main">
            <a:pPr algn="ctr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aprovados</a:t>
            </a:r>
          </a:p>
        </p:txBody>
      </p:sp>
      <p:sp>
        <p:nvSpPr>
          <p:cNvPr id="13" name="quality-bottom">
            <a:extLst xmlns:a="http://schemas.openxmlformats.org/drawingml/2006/main">
              <a:ext uri="{FF2B5EF4-FFF2-40B4-BE49-F238E27FC236}">
                <a16:creationId xmlns:a16="http://schemas.microsoft.com/office/drawing/2014/main" id="{629DC367-E095-4F5A-85C7-33E098D1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05500"/>
            <a:ext cx="872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No BigQuery, ASSERT transforma falha crítica em erro operacional visível.</a:t>
            </a:r>
          </a:p>
        </p:txBody>
      </p:sp>
    </p:spTree>
    <p:extLst>
      <p:ext uri="{BB962C8B-B14F-4D97-AF65-F5344CB8AC3E}">
        <p14:creationId xmlns:p14="http://schemas.microsoft.com/office/powerpoint/2010/main" val="841743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23DCCB5-C6B1-47BB-B76C-035D5F74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Gold torna o gap acionável por município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5D97AA69-3FC9-4A59-8392-2CFE937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6572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9b3aa3db324e3f"/>
          </a:graphicData>
        </a:graphic>
      </p:graphicFrame>
      <p:sp>
        <p:nvSpPr>
          <p:cNvPr id="4" name="gold-context">
            <a:extLst xmlns:a="http://schemas.openxmlformats.org/drawingml/2006/main">
              <a:ext uri="{FF2B5EF4-FFF2-40B4-BE49-F238E27FC236}">
                <a16:creationId xmlns:a16="http://schemas.microsoft.com/office/drawing/2014/main" id="{370CC10C-0658-4D41-B2BB-91E9BB4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Amostra sintética demonstra a evolução; produção usa os resultados oficiais.</a:t>
            </a:r>
          </a:p>
        </p:txBody>
      </p:sp>
      <p:sp>
        <p:nvSpPr>
          <p:cNvPr id="5" name="gold-product-panel">
            <a:extLst xmlns:a="http://schemas.openxmlformats.org/drawingml/2006/main">
              <a:ext uri="{FF2B5EF4-FFF2-40B4-BE49-F238E27FC236}">
                <a16:creationId xmlns:a16="http://schemas.microsoft.com/office/drawing/2014/main" id="{1F7628F5-A138-4ACB-8005-23E5766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1952625" cy="21336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old-product-stat">
            <a:extLst xmlns:a="http://schemas.openxmlformats.org/drawingml/2006/main">
              <a:ext uri="{FF2B5EF4-FFF2-40B4-BE49-F238E27FC236}">
                <a16:creationId xmlns:a16="http://schemas.microsoft.com/office/drawing/2014/main" id="{A74FF125-45AA-4508-B25D-F6E686D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2420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gold-product-body">
            <a:extLst xmlns:a="http://schemas.openxmlformats.org/drawingml/2006/main">
              <a:ext uri="{FF2B5EF4-FFF2-40B4-BE49-F238E27FC236}">
                <a16:creationId xmlns:a16="http://schemas.microsoft.com/office/drawing/2014/main" id="{37DCD6AD-C5D0-4BA1-8C81-6FD56C8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48125"/>
            <a:ext cx="147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3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produtos Gold</a:t>
            </a:r>
          </a:p>
          <a:p xmlns:a="http://schemas.openxmlformats.org/drawingml/2006/main">
            <a: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prontos para BI</a:t>
            </a:r>
          </a:p>
        </p:txBody>
      </p:sp>
      <p:sp>
        <p:nvSpPr>
          <p:cNvPr id="8" name="gold-target-panel">
            <a:extLst xmlns:a="http://schemas.openxmlformats.org/drawingml/2006/main">
              <a:ext uri="{FF2B5EF4-FFF2-40B4-BE49-F238E27FC236}">
                <a16:creationId xmlns:a16="http://schemas.microsoft.com/office/drawing/2014/main" id="{71C0D9B5-1B7E-402C-B1CE-60B7D6AF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62250"/>
            <a:ext cx="1952625" cy="21336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gold-target-stat">
            <a:extLst xmlns:a="http://schemas.openxmlformats.org/drawingml/2006/main">
              <a:ext uri="{FF2B5EF4-FFF2-40B4-BE49-F238E27FC236}">
                <a16:creationId xmlns:a16="http://schemas.microsoft.com/office/drawing/2014/main" id="{330E0184-C623-46D4-A502-B91D5E15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2420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0" name="gold-target-body">
            <a:extLst xmlns:a="http://schemas.openxmlformats.org/drawingml/2006/main">
              <a:ext uri="{FF2B5EF4-FFF2-40B4-BE49-F238E27FC236}">
                <a16:creationId xmlns:a16="http://schemas.microsoft.com/office/drawing/2014/main" id="{227330ED-BD96-448C-BC05-DA35823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48125"/>
            <a:ext cx="147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778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combinações de meta</a:t>
            </a:r>
          </a:p>
          <a:p xmlns:a="http://schemas.openxmlformats.org/drawingml/2006/main">
            <a:pPr algn="ctr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2024–2030</a:t>
            </a:r>
          </a:p>
        </p:txBody>
      </p:sp>
      <p:sp>
        <p:nvSpPr>
          <p:cNvPr id="11" name="gold-note">
            <a:extLst xmlns:a="http://schemas.openxmlformats.org/drawingml/2006/main">
              <a:ext uri="{FF2B5EF4-FFF2-40B4-BE49-F238E27FC236}">
                <a16:creationId xmlns:a16="http://schemas.microsoft.com/office/drawing/2014/main" id="{9D0C5C1D-EBE9-45E4-82A7-C4702BC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Taxa → meta → gap → status → prioridade</a:t>
            </a:r>
          </a:p>
        </p:txBody>
      </p:sp>
      <p:sp>
        <p:nvSpPr>
          <p:cNvPr id="12" name="gold-source-label">
            <a:extLst xmlns:a="http://schemas.openxmlformats.org/drawingml/2006/main">
              <a:ext uri="{FF2B5EF4-FFF2-40B4-BE49-F238E27FC236}">
                <a16:creationId xmlns:a16="http://schemas.microsoft.com/office/drawing/2014/main" id="{B5B3957E-1594-4CBB-AEF8-AA0A4618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Valores do gráfico: amostra sintética</a:t>
            </a:r>
          </a:p>
        </p:txBody>
      </p:sp>
    </p:spTree>
    <p:extLst>
      <p:ext uri="{BB962C8B-B14F-4D97-AF65-F5344CB8AC3E}">
        <p14:creationId xmlns:p14="http://schemas.microsoft.com/office/powerpoint/2010/main" val="1766723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62DFE35-D8A1-4785-8AE5-C7C8636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Baixo custo sem abrir mão de controle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C882C364-6734-4F68-B16B-FD65F92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finops-lead">
            <a:extLst xmlns:a="http://schemas.openxmlformats.org/drawingml/2006/main">
              <a:ext uri="{FF2B5EF4-FFF2-40B4-BE49-F238E27FC236}">
                <a16:creationId xmlns:a16="http://schemas.microsoft.com/office/drawing/2014/main" id="{B85B01C5-986C-44B2-B51B-4856AF8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Serverless, partição e lifecycle atacam os três vetores: computação, armazenamento e operação.</a:t>
            </a:r>
          </a:p>
        </p:txBody>
      </p:sp>
      <p:sp>
        <p:nvSpPr>
          <p:cNvPr id="4" name="finops-separator-1">
            <a:extLst xmlns:a="http://schemas.openxmlformats.org/drawingml/2006/main">
              <a:ext uri="{FF2B5EF4-FFF2-40B4-BE49-F238E27FC236}">
                <a16:creationId xmlns:a16="http://schemas.microsoft.com/office/drawing/2014/main" id="{E0422C9F-8D26-486A-8AC0-5B19111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finops-separator-2">
            <a:extLst xmlns:a="http://schemas.openxmlformats.org/drawingml/2006/main">
              <a:ext uri="{FF2B5EF4-FFF2-40B4-BE49-F238E27FC236}">
                <a16:creationId xmlns:a16="http://schemas.microsoft.com/office/drawing/2014/main" id="{E5DD215C-EDB6-46C2-B655-C375D558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finops-stat-0">
            <a:extLst xmlns:a="http://schemas.openxmlformats.org/drawingml/2006/main">
              <a:ext uri="{FF2B5EF4-FFF2-40B4-BE49-F238E27FC236}">
                <a16:creationId xmlns:a16="http://schemas.microsoft.com/office/drawing/2014/main" id="{E9BC7C0C-06F1-4FF4-96B8-0618852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&lt; US$ 1</a:t>
            </a:r>
          </a:p>
        </p:txBody>
      </p:sp>
      <p:sp>
        <p:nvSpPr>
          <p:cNvPr id="7" name="finops-label-0">
            <a:extLst xmlns:a="http://schemas.openxmlformats.org/drawingml/2006/main">
              <a:ext uri="{FF2B5EF4-FFF2-40B4-BE49-F238E27FC236}">
                <a16:creationId xmlns:a16="http://schemas.microsoft.com/office/drawing/2014/main" id="{A468E037-DA5F-417E-8F08-2797490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05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8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 mensal de referência</a:t>
            </a:r>
          </a:p>
        </p:txBody>
      </p:sp>
      <p:sp>
        <p:nvSpPr>
          <p:cNvPr id="8" name="finops-body-0">
            <a:extLst xmlns:a="http://schemas.openxmlformats.org/drawingml/2006/main">
              <a:ext uri="{FF2B5EF4-FFF2-40B4-BE49-F238E27FC236}">
                <a16:creationId xmlns:a16="http://schemas.microsoft.com/office/drawing/2014/main" id="{4A0C3779-9307-4BB3-A249-553C6EB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291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450 GiB consultados</a:t>
            </a:r>
          </a:p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25 GiB ativos · 1 GiB stream</a:t>
            </a:r>
          </a:p>
        </p:txBody>
      </p:sp>
      <p:sp>
        <p:nvSpPr>
          <p:cNvPr id="9" name="finops-stat-1">
            <a:extLst xmlns:a="http://schemas.openxmlformats.org/drawingml/2006/main">
              <a:ext uri="{FF2B5EF4-FFF2-40B4-BE49-F238E27FC236}">
                <a16:creationId xmlns:a16="http://schemas.microsoft.com/office/drawing/2014/main" id="{9BDC2D42-FB1E-4288-A179-05A30DA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193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R$ 100</a:t>
            </a:r>
          </a:p>
        </p:txBody>
      </p:sp>
      <p:sp>
        <p:nvSpPr>
          <p:cNvPr id="10" name="finops-label-1">
            <a:extLst xmlns:a="http://schemas.openxmlformats.org/drawingml/2006/main">
              <a:ext uri="{FF2B5EF4-FFF2-40B4-BE49-F238E27FC236}">
                <a16:creationId xmlns:a16="http://schemas.microsoft.com/office/drawing/2014/main" id="{737133FD-2502-4A88-AEE1-7BF6F90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 mensal no Terraform</a:t>
            </a:r>
          </a:p>
        </p:txBody>
      </p:sp>
      <p:sp>
        <p:nvSpPr>
          <p:cNvPr id="11" name="finops-body-1">
            <a:extLst xmlns:a="http://schemas.openxmlformats.org/drawingml/2006/main">
              <a:ext uri="{FF2B5EF4-FFF2-40B4-BE49-F238E27FC236}">
                <a16:creationId xmlns:a16="http://schemas.microsoft.com/office/drawing/2014/main" id="{AA463ABF-6B2C-40A0-9100-A0D4D21E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alertas em 50% · 80% · 100%</a:t>
            </a:r>
          </a:p>
        </p:txBody>
      </p:sp>
      <p:sp>
        <p:nvSpPr>
          <p:cNvPr id="12" name="finops-stat-2">
            <a:extLst xmlns:a="http://schemas.openxmlformats.org/drawingml/2006/main">
              <a:ext uri="{FF2B5EF4-FFF2-40B4-BE49-F238E27FC236}">
                <a16:creationId xmlns:a16="http://schemas.microsoft.com/office/drawing/2014/main" id="{DF0973D1-9008-44B8-A249-BB70D56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193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365 dias</a:t>
            </a:r>
          </a:p>
        </p:txBody>
      </p:sp>
      <p:sp>
        <p:nvSpPr>
          <p:cNvPr id="13" name="finops-label-2">
            <a:extLst xmlns:a="http://schemas.openxmlformats.org/drawingml/2006/main">
              <a:ext uri="{FF2B5EF4-FFF2-40B4-BE49-F238E27FC236}">
                <a16:creationId xmlns:a16="http://schemas.microsoft.com/office/drawing/2014/main" id="{DF032877-8726-4D98-8B07-121E777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05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retenção da Bronze streaming</a:t>
            </a:r>
          </a:p>
        </p:txBody>
      </p:sp>
      <p:sp>
        <p:nvSpPr>
          <p:cNvPr id="14" name="finops-body-2">
            <a:extLst xmlns:a="http://schemas.openxmlformats.org/drawingml/2006/main">
              <a:ext uri="{FF2B5EF4-FFF2-40B4-BE49-F238E27FC236}">
                <a16:creationId xmlns:a16="http://schemas.microsoft.com/office/drawing/2014/main" id="{50F82AAC-C12C-461F-A7F9-D8D870B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291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Parquet + Nearline após 30 dias</a:t>
            </a:r>
          </a:p>
        </p:txBody>
      </p:sp>
      <p:sp>
        <p:nvSpPr>
          <p:cNvPr id="15" name="security-band">
            <a:extLst xmlns:a="http://schemas.openxmlformats.org/drawingml/2006/main">
              <a:ext uri="{FF2B5EF4-FFF2-40B4-BE49-F238E27FC236}">
                <a16:creationId xmlns:a16="http://schemas.microsoft.com/office/drawing/2014/main" id="{8375D746-2E70-497A-A84E-103185C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urity-band-text">
            <a:extLst xmlns:a="http://schemas.openxmlformats.org/drawingml/2006/main">
              <a:ext uri="{FF2B5EF4-FFF2-40B4-BE49-F238E27FC236}">
                <a16:creationId xmlns:a16="http://schemas.microsoft.com/office/drawing/2014/main" id="{544AB7D8-E71E-48B4-B546-E9EC7D5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IAM mínimo · sem chaves no repositório · Gold sem identificadores de alunos · monitoramento de backlog, DQ e custo</a:t>
            </a:r>
          </a:p>
        </p:txBody>
      </p:sp>
    </p:spTree>
    <p:extLst>
      <p:ext uri="{BB962C8B-B14F-4D97-AF65-F5344CB8AC3E}">
        <p14:creationId xmlns:p14="http://schemas.microsoft.com/office/powerpoint/2010/main" val="1713267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F1C7F07-A687-406D-AC69-F5D9853E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solução está pronta para o primeiro ciclo oficial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62E33A59-18D7-44AF-ADD4-41B10D74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191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closing-lead">
            <a:extLst xmlns:a="http://schemas.openxmlformats.org/drawingml/2006/main">
              <a:ext uri="{FF2B5EF4-FFF2-40B4-BE49-F238E27FC236}">
                <a16:creationId xmlns:a16="http://schemas.microsoft.com/office/drawing/2014/main" id="{10E62646-636B-41D3-AEDF-09BB9331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Código, infraestrutura, testes, documentação e runbook formam uma entrega reprocessável e auditável.</a:t>
            </a:r>
          </a:p>
        </p:txBody>
      </p:sp>
      <p:sp>
        <p:nvSpPr>
          <p:cNvPr id="4" name="closing-timeline">
            <a:extLst xmlns:a="http://schemas.openxmlformats.org/drawingml/2006/main">
              <a:ext uri="{FF2B5EF4-FFF2-40B4-BE49-F238E27FC236}">
                <a16:creationId xmlns:a16="http://schemas.microsoft.com/office/drawing/2014/main" id="{D32B4D33-9EA1-4EA9-9A33-262AF486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closing-dot-0">
            <a:extLst xmlns:a="http://schemas.openxmlformats.org/drawingml/2006/main">
              <a:ext uri="{FF2B5EF4-FFF2-40B4-BE49-F238E27FC236}">
                <a16:creationId xmlns:a16="http://schemas.microsoft.com/office/drawing/2014/main" id="{834C7572-0075-4B9F-B427-3E01690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closing-dot-1">
            <a:extLst xmlns:a="http://schemas.openxmlformats.org/drawingml/2006/main">
              <a:ext uri="{FF2B5EF4-FFF2-40B4-BE49-F238E27FC236}">
                <a16:creationId xmlns:a16="http://schemas.microsoft.com/office/drawing/2014/main" id="{80982D3D-43EC-4047-A6EA-0D54DBB6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losing-dot-2">
            <a:extLst xmlns:a="http://schemas.openxmlformats.org/drawingml/2006/main">
              <a:ext uri="{FF2B5EF4-FFF2-40B4-BE49-F238E27FC236}">
                <a16:creationId xmlns:a16="http://schemas.microsoft.com/office/drawing/2014/main" id="{D2D8EE56-22EC-403E-A72E-BCFE310C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losing-step-0">
            <a:extLst xmlns:a="http://schemas.openxmlformats.org/drawingml/2006/main">
              <a:ext uri="{FF2B5EF4-FFF2-40B4-BE49-F238E27FC236}">
                <a16:creationId xmlns:a16="http://schemas.microsoft.com/office/drawing/2014/main" id="{3ACC5125-403F-4C45-9E84-7248FE5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9" name="closing-number-0">
            <a:extLst xmlns:a="http://schemas.openxmlformats.org/drawingml/2006/main">
              <a:ext uri="{FF2B5EF4-FFF2-40B4-BE49-F238E27FC236}">
                <a16:creationId xmlns:a16="http://schemas.microsoft.com/office/drawing/2014/main" id="{99BF1CBB-EFE9-49A3-B6D6-1211596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closing-title-0">
            <a:extLst xmlns:a="http://schemas.openxmlformats.org/drawingml/2006/main">
              <a:ext uri="{FF2B5EF4-FFF2-40B4-BE49-F238E27FC236}">
                <a16:creationId xmlns:a16="http://schemas.microsoft.com/office/drawing/2014/main" id="{8854A233-EB05-416F-A7A6-21EF4484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Aplicar</a:t>
            </a:r>
          </a:p>
        </p:txBody>
      </p:sp>
      <p:sp>
        <p:nvSpPr>
          <p:cNvPr id="11" name="closing-body-0">
            <a:extLst xmlns:a="http://schemas.openxmlformats.org/drawingml/2006/main">
              <a:ext uri="{FF2B5EF4-FFF2-40B4-BE49-F238E27FC236}">
                <a16:creationId xmlns:a16="http://schemas.microsoft.com/office/drawing/2014/main" id="{B0C81C87-C513-4509-A4F0-B1DFB709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Revisar o plan e implantar em um projeto GCP autorizado.</a:t>
            </a:r>
          </a:p>
        </p:txBody>
      </p:sp>
      <p:sp>
        <p:nvSpPr>
          <p:cNvPr id="12" name="closing-step-1">
            <a:extLst xmlns:a="http://schemas.openxmlformats.org/drawingml/2006/main">
              <a:ext uri="{FF2B5EF4-FFF2-40B4-BE49-F238E27FC236}">
                <a16:creationId xmlns:a16="http://schemas.microsoft.com/office/drawing/2014/main" id="{FE3143F3-8162-41BC-9662-68CBECF4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number-1">
            <a:extLst xmlns:a="http://schemas.openxmlformats.org/drawingml/2006/main">
              <a:ext uri="{FF2B5EF4-FFF2-40B4-BE49-F238E27FC236}">
                <a16:creationId xmlns:a16="http://schemas.microsoft.com/office/drawing/2014/main" id="{F034235C-25D4-470B-B16A-98DA4B1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losing-title-1">
            <a:extLst xmlns:a="http://schemas.openxmlformats.org/drawingml/2006/main">
              <a:ext uri="{FF2B5EF4-FFF2-40B4-BE49-F238E27FC236}">
                <a16:creationId xmlns:a16="http://schemas.microsoft.com/office/drawing/2014/main" id="{4EA62499-53C5-4AF8-949A-B3B16CC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Observar</a:t>
            </a:r>
          </a:p>
        </p:txBody>
      </p:sp>
      <p:sp>
        <p:nvSpPr>
          <p:cNvPr id="15" name="closing-body-1">
            <a:extLst xmlns:a="http://schemas.openxmlformats.org/drawingml/2006/main">
              <a:ext uri="{FF2B5EF4-FFF2-40B4-BE49-F238E27FC236}">
                <a16:creationId xmlns:a16="http://schemas.microsoft.com/office/drawing/2014/main" id="{2B5E793A-DACF-449D-BC10-95A2F87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71875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Executar o canário, validar DQ, backlog, Parquet e custo.</a:t>
            </a:r>
          </a:p>
        </p:txBody>
      </p:sp>
      <p:sp>
        <p:nvSpPr>
          <p:cNvPr id="16" name="closing-step-2">
            <a:extLst xmlns:a="http://schemas.openxmlformats.org/drawingml/2006/main">
              <a:ext uri="{FF2B5EF4-FFF2-40B4-BE49-F238E27FC236}">
                <a16:creationId xmlns:a16="http://schemas.microsoft.com/office/drawing/2014/main" id="{9E97F85A-C32C-46B8-A276-FCAA507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623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ing-number-2">
            <a:extLst xmlns:a="http://schemas.openxmlformats.org/drawingml/2006/main">
              <a:ext uri="{FF2B5EF4-FFF2-40B4-BE49-F238E27FC236}">
                <a16:creationId xmlns:a16="http://schemas.microsoft.com/office/drawing/2014/main" id="{25B6D1D3-FCBB-423D-82F9-685B6637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losing-title-2">
            <a:extLst xmlns:a="http://schemas.openxmlformats.org/drawingml/2006/main">
              <a:ext uri="{FF2B5EF4-FFF2-40B4-BE49-F238E27FC236}">
                <a16:creationId xmlns:a16="http://schemas.microsoft.com/office/drawing/2014/main" id="{A9C6431A-6C26-49DE-8DFF-DB974D68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Evoluir</a:t>
            </a:r>
          </a:p>
        </p:txBody>
      </p:sp>
      <p:sp>
        <p:nvSpPr>
          <p:cNvPr id="19" name="closing-body-2">
            <a:extLst xmlns:a="http://schemas.openxmlformats.org/drawingml/2006/main">
              <a:ext uri="{FF2B5EF4-FFF2-40B4-BE49-F238E27FC236}">
                <a16:creationId xmlns:a16="http://schemas.microsoft.com/office/drawing/2014/main" id="{A33AB0ED-CD03-45A9-9341-D626CB2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Conectar BI; adotar Workflows/Dataflow quando o SLA exigir.</a:t>
            </a:r>
          </a:p>
        </p:txBody>
      </p:sp>
      <p:sp>
        <p:nvSpPr>
          <p:cNvPr id="20" name="closing-author">
            <a:extLst xmlns:a="http://schemas.openxmlformats.org/drawingml/2006/main">
              <a:ext uri="{FF2B5EF4-FFF2-40B4-BE49-F238E27FC236}">
                <a16:creationId xmlns:a16="http://schemas.microsoft.com/office/drawing/2014/main" id="{FE5CAF81-067A-44CD-A230-4B344269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Nome / RM · repositório pronto para publicação</a:t>
            </a:r>
          </a:p>
        </p:txBody>
      </p:sp>
    </p:spTree>
    <p:extLst>
      <p:ext uri="{BB962C8B-B14F-4D97-AF65-F5344CB8AC3E}">
        <p14:creationId xmlns:p14="http://schemas.microsoft.com/office/powerpoint/2010/main" val="569904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2026-08-26T21:56:01.9750000Z</dcterms:created>
  <dcterms:modified xsi:type="dcterms:W3CDTF">2026-08-26T21:56:01.9750000Z</dcterms:modified>
</coreProperties>
</file>